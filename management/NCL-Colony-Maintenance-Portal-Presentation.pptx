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>
                <a:latin typeface="Segoe UI"/>
              </a:rPr>
              <a:t>Overseer field time used, by complaints per quarter per month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Field time used (%)</c:v>
                </c:pt>
              </c:strCache>
            </c:strRef>
          </c:tx>
          <c:dPt>
            <c:idx val="0"/>
            <c:spPr>
              <a:solidFill>
                <a:srgbClr val="1F6F4A"/>
              </a:solidFill>
            </c:spPr>
          </c:dPt>
          <c:dPt>
            <c:idx val="1"/>
            <c:spPr>
              <a:solidFill>
                <a:srgbClr val="0F4C4C"/>
              </a:solidFill>
            </c:spPr>
          </c:dPt>
          <c:dPt>
            <c:idx val="2"/>
            <c:spPr>
              <a:solidFill>
                <a:srgbClr val="0F4C4C"/>
              </a:solidFill>
            </c:spPr>
          </c:dPt>
          <c:dPt>
            <c:idx val="3"/>
            <c:spPr>
              <a:solidFill>
                <a:srgbClr val="8A5A00"/>
              </a:solidFill>
            </c:spPr>
          </c:dPt>
          <c:dPt>
            <c:idx val="4"/>
            <c:spPr>
              <a:solidFill>
                <a:srgbClr val="8A5A00"/>
              </a:solidFill>
            </c:spPr>
          </c:dPt>
          <c:dPt>
            <c:idx val="5"/>
            <c:spPr>
              <a:solidFill>
                <a:srgbClr val="A32A21"/>
              </a:solidFill>
            </c:spPr>
          </c:dPt>
          <c:cat>
            <c:strRef>
              <c:f>Sheet1!$A$2:$A$7</c:f>
              <c:strCache>
                <c:ptCount val="6"/>
                <c:pt idx="0">
                  <c:v>0.25</c:v>
                </c:pt>
                <c:pt idx="1">
                  <c:v>0.50</c:v>
                </c:pt>
                <c:pt idx="2">
                  <c:v>0.75</c:v>
                </c:pt>
                <c:pt idx="3">
                  <c:v>1.00</c:v>
                </c:pt>
                <c:pt idx="4">
                  <c:v>1.25</c:v>
                </c:pt>
                <c:pt idx="5">
                  <c:v>1.50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</c:v>
                </c:pt>
                <c:pt idx="1">
                  <c:v>37</c:v>
                </c:pt>
                <c:pt idx="2">
                  <c:v>55</c:v>
                </c:pt>
                <c:pt idx="3">
                  <c:v>74</c:v>
                </c:pt>
                <c:pt idx="4">
                  <c:v>92</c:v>
                </c:pt>
                <c:pt idx="5">
                  <c:v>111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200" b="1">
                  <a:latin typeface="Segoe U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0.0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0"/>
            <a:ext cx="11483163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0A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4864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C9A96A"/>
                </a:solidFill>
                <a:latin typeface="Segoe UI"/>
              </a:rPr>
              <a:t>NORTHERN COALFIELDS LIMITED · CIVIL DEPARTMENT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669280" cy="1828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 i="0">
                <a:solidFill>
                  <a:srgbClr val="FFFFFF"/>
                </a:solidFill>
                <a:latin typeface="Segoe UI"/>
              </a:rPr>
              <a:t>Colony Maintenance Portal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29000"/>
            <a:ext cx="530352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DCEBEA"/>
                </a:solidFill>
                <a:latin typeface="Segoe UI"/>
              </a:rPr>
              <a:t>A contract performance record that holds up in a dispute — for 15,000 quarters across 13 Areas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754880"/>
            <a:ext cx="1097280" cy="45720"/>
          </a:xfrm>
          <a:prstGeom prst="rect">
            <a:avLst/>
          </a:prstGeom>
          <a:solidFill>
            <a:srgbClr val="C9A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983480"/>
            <a:ext cx="548640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BFD6D4"/>
                </a:solidFill>
                <a:latin typeface="Segoe UI"/>
              </a:rPr>
              <a:t>Presentation to management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BFD6D4"/>
                </a:solidFill>
                <a:latin typeface="Segoe UI"/>
              </a:rP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B08F4E"/>
                </a:solidFill>
                <a:latin typeface="Segoe U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0F4C4C"/>
                </a:solidFill>
                <a:latin typeface="Segoe UI"/>
              </a:rPr>
              <a:t>What this presentation covers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16152"/>
            <a:ext cx="914400" cy="45720"/>
          </a:xfrm>
          <a:prstGeom prst="rect">
            <a:avLst/>
          </a:prstGeom>
          <a:solidFill>
            <a:srgbClr val="C9A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17074"/>
                </a:solidFill>
                <a:latin typeface="Segoe UI"/>
              </a:rPr>
              <a:t>Colony Maintenance Portal · NCL Civil Department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17074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91440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C9A96A"/>
                </a:solidFill>
                <a:latin typeface="Segoe U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737360"/>
            <a:ext cx="44805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0F4C4C"/>
                </a:solidFill>
                <a:latin typeface="Segoe UI"/>
              </a:rPr>
              <a:t>The situation 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194560"/>
            <a:ext cx="448056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17074"/>
                </a:solidFill>
                <a:latin typeface="Segoe UI"/>
              </a:rPr>
              <a:t>Scale, the comprehensive maintenance contract, the paper register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645920"/>
            <a:ext cx="91440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C9A96A"/>
                </a:solidFill>
                <a:latin typeface="Segoe U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737360"/>
            <a:ext cx="44805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0F4C4C"/>
                </a:solidFill>
                <a:latin typeface="Segoe UI"/>
              </a:rPr>
              <a:t>What the portal must 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194560"/>
            <a:ext cx="448056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17074"/>
                </a:solidFill>
                <a:latin typeface="Segoe UI"/>
              </a:rPr>
              <a:t>Requirements set by the department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108960"/>
            <a:ext cx="91440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C9A96A"/>
                </a:solidFill>
                <a:latin typeface="Segoe U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200400"/>
            <a:ext cx="44805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0F4C4C"/>
                </a:solidFill>
                <a:latin typeface="Segoe UI"/>
              </a:rPr>
              <a:t>How the portal works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657600"/>
            <a:ext cx="448056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17074"/>
                </a:solidFill>
                <a:latin typeface="Segoe UI"/>
              </a:rPr>
              <a:t>Roles, the complaint lifecycle, the contractor's clock, nine controls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108960"/>
            <a:ext cx="91440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C9A96A"/>
                </a:solidFill>
                <a:latin typeface="Segoe U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3200400"/>
            <a:ext cx="44805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0F4C4C"/>
                </a:solidFill>
                <a:latin typeface="Segoe UI"/>
              </a:rPr>
              <a:t>Use cases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657600"/>
            <a:ext cx="448056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17074"/>
                </a:solidFill>
                <a:latin typeface="Segoe UI"/>
              </a:rPr>
              <a:t>Resident, contractor, Overseer and Incharge, Staff Officer, HQ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572000"/>
            <a:ext cx="91440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C9A96A"/>
                </a:solidFill>
                <a:latin typeface="Segoe U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663440"/>
            <a:ext cx="44805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0F4C4C"/>
                </a:solidFill>
                <a:latin typeface="Segoe UI"/>
              </a:rPr>
              <a:t>Benefits to NCL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120640"/>
            <a:ext cx="448056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17074"/>
                </a:solidFill>
                <a:latin typeface="Segoe UI"/>
              </a:rPr>
              <a:t>What changes, measured capacity and cost of storage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572000"/>
            <a:ext cx="91440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C9A96A"/>
                </a:solidFill>
                <a:latin typeface="Segoe UI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663440"/>
            <a:ext cx="44805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0F4C4C"/>
                </a:solidFill>
                <a:latin typeface="Segoe UI"/>
              </a:rPr>
              <a:t>Status, roadmap and decisions needed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5120640"/>
            <a:ext cx="448056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17074"/>
                </a:solidFill>
                <a:latin typeface="Segoe UI"/>
              </a:rPr>
              <a:t>What is built, what is next, what management must decide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B08F4E"/>
                </a:solidFill>
                <a:latin typeface="Segoe UI"/>
              </a:rPr>
              <a:t>THE SITUATION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0F4C4C"/>
                </a:solidFill>
                <a:latin typeface="Segoe UI"/>
              </a:rPr>
              <a:t>One portal for every NCL colony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16152"/>
            <a:ext cx="914400" cy="45720"/>
          </a:xfrm>
          <a:prstGeom prst="rect">
            <a:avLst/>
          </a:prstGeom>
          <a:solidFill>
            <a:srgbClr val="C9A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17074"/>
                </a:solidFill>
                <a:latin typeface="Segoe UI"/>
              </a:rPr>
              <a:t>Colony Maintenance Portal · NCL Civil Department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17074"/>
                </a:solidFill>
                <a:latin typeface="Segoe UI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45920"/>
            <a:ext cx="26060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228600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i="0">
                <a:solidFill>
                  <a:srgbClr val="0F4C4C"/>
                </a:solidFill>
                <a:latin typeface="Segoe UI"/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51760"/>
            <a:ext cx="228600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17074"/>
                </a:solidFill>
                <a:latin typeface="Segoe UI"/>
              </a:rPr>
              <a:t>Areas, each with its own colony,
maintenance office and contract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645920"/>
            <a:ext cx="26060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1783080"/>
            <a:ext cx="228600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i="0">
                <a:solidFill>
                  <a:srgbClr val="0F4C4C"/>
                </a:solidFill>
                <a:latin typeface="Segoe UI"/>
              </a:rPr>
              <a:t>15,000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651760"/>
            <a:ext cx="228600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17074"/>
                </a:solidFill>
                <a:latin typeface="Segoe UI"/>
              </a:rPr>
              <a:t>quarters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645920"/>
            <a:ext cx="26060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783080"/>
            <a:ext cx="228600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i="0">
                <a:solidFill>
                  <a:srgbClr val="0F4C4C"/>
                </a:solidFill>
                <a:latin typeface="Segoe UI"/>
              </a:rPr>
              <a:t>~130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651760"/>
            <a:ext cx="228600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17074"/>
                </a:solidFill>
                <a:latin typeface="Segoe UI"/>
              </a:rPr>
              <a:t>non-residential buildings —
hostels, dispensaries, schools, offices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1645920"/>
            <a:ext cx="26060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1783080"/>
            <a:ext cx="228600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i="0">
                <a:solidFill>
                  <a:srgbClr val="0F4C4C"/>
                </a:solidFill>
                <a:latin typeface="Segoe U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2651760"/>
            <a:ext cx="228600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17074"/>
                </a:solidFill>
                <a:latin typeface="Segoe UI"/>
              </a:rPr>
              <a:t>comprehensive maintenance
contractor per Area contract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886200"/>
            <a:ext cx="73152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F4C4C"/>
                </a:solidFill>
                <a:latin typeface="Segoe UI"/>
              </a:rPr>
              <a:t>The thirteen Areas — the code appears in every complaint number, e.g. JNT/2026/00042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343400"/>
            <a:ext cx="2121408" cy="457200"/>
          </a:xfrm>
          <a:prstGeom prst="roundRect">
            <a:avLst>
              <a:gd name="adj" fmla="val 30000"/>
            </a:avLst>
          </a:prstGeom>
          <a:solidFill>
            <a:srgbClr val="E8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b="1" sz="1100">
                <a:solidFill>
                  <a:srgbClr val="0F4C4C"/>
                </a:solidFill>
                <a:latin typeface="Segoe UI"/>
              </a:rPr>
              <a:t>AML  </a:t>
            </a:r>
            <a:r>
              <a:rPr sz="1000">
                <a:solidFill>
                  <a:srgbClr val="1C2B2B"/>
                </a:solidFill>
                <a:latin typeface="Segoe UI"/>
              </a:rPr>
              <a:t>Amlohri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98064" y="4343400"/>
            <a:ext cx="2121408" cy="457200"/>
          </a:xfrm>
          <a:prstGeom prst="roundRect">
            <a:avLst>
              <a:gd name="adj" fmla="val 30000"/>
            </a:avLst>
          </a:prstGeom>
          <a:solidFill>
            <a:srgbClr val="E8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b="1" sz="1100">
                <a:solidFill>
                  <a:srgbClr val="0F4C4C"/>
                </a:solidFill>
                <a:latin typeface="Segoe UI"/>
              </a:rPr>
              <a:t>NGH  </a:t>
            </a:r>
            <a:r>
              <a:rPr sz="1000">
                <a:solidFill>
                  <a:srgbClr val="1C2B2B"/>
                </a:solidFill>
                <a:latin typeface="Segoe UI"/>
              </a:rPr>
              <a:t>Nigahi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47488" y="4343400"/>
            <a:ext cx="2121408" cy="457200"/>
          </a:xfrm>
          <a:prstGeom prst="roundRect">
            <a:avLst>
              <a:gd name="adj" fmla="val 30000"/>
            </a:avLst>
          </a:prstGeom>
          <a:solidFill>
            <a:srgbClr val="E8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b="1" sz="1100">
                <a:solidFill>
                  <a:srgbClr val="0F4C4C"/>
                </a:solidFill>
                <a:latin typeface="Segoe UI"/>
              </a:rPr>
              <a:t>JNT  </a:t>
            </a:r>
            <a:r>
              <a:rPr sz="1000">
                <a:solidFill>
                  <a:srgbClr val="1C2B2B"/>
                </a:solidFill>
                <a:latin typeface="Segoe UI"/>
              </a:rPr>
              <a:t>Jayant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96912" y="4343400"/>
            <a:ext cx="2121408" cy="457200"/>
          </a:xfrm>
          <a:prstGeom prst="roundRect">
            <a:avLst>
              <a:gd name="adj" fmla="val 30000"/>
            </a:avLst>
          </a:prstGeom>
          <a:solidFill>
            <a:srgbClr val="E8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b="1" sz="1100">
                <a:solidFill>
                  <a:srgbClr val="0F4C4C"/>
                </a:solidFill>
                <a:latin typeface="Segoe UI"/>
              </a:rPr>
              <a:t>DCH  </a:t>
            </a:r>
            <a:r>
              <a:rPr sz="1000">
                <a:solidFill>
                  <a:srgbClr val="1C2B2B"/>
                </a:solidFill>
                <a:latin typeface="Segoe UI"/>
              </a:rPr>
              <a:t>Dudhichua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46336" y="4343400"/>
            <a:ext cx="2121408" cy="457200"/>
          </a:xfrm>
          <a:prstGeom prst="roundRect">
            <a:avLst>
              <a:gd name="adj" fmla="val 30000"/>
            </a:avLst>
          </a:prstGeom>
          <a:solidFill>
            <a:srgbClr val="E8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b="1" sz="1100">
                <a:solidFill>
                  <a:srgbClr val="0F4C4C"/>
                </a:solidFill>
                <a:latin typeface="Segoe UI"/>
              </a:rPr>
              <a:t>KHD  </a:t>
            </a:r>
            <a:r>
              <a:rPr sz="1000">
                <a:solidFill>
                  <a:srgbClr val="1C2B2B"/>
                </a:solidFill>
                <a:latin typeface="Segoe UI"/>
              </a:rPr>
              <a:t>Khadia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910328"/>
            <a:ext cx="2121408" cy="457200"/>
          </a:xfrm>
          <a:prstGeom prst="roundRect">
            <a:avLst>
              <a:gd name="adj" fmla="val 30000"/>
            </a:avLst>
          </a:prstGeom>
          <a:solidFill>
            <a:srgbClr val="E8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b="1" sz="1100">
                <a:solidFill>
                  <a:srgbClr val="0F4C4C"/>
                </a:solidFill>
                <a:latin typeface="Segoe UI"/>
              </a:rPr>
              <a:t>KSL  </a:t>
            </a:r>
            <a:r>
              <a:rPr sz="1000">
                <a:solidFill>
                  <a:srgbClr val="1C2B2B"/>
                </a:solidFill>
                <a:latin typeface="Segoe UI"/>
              </a:rPr>
              <a:t>Krishnashila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98064" y="4910328"/>
            <a:ext cx="2121408" cy="457200"/>
          </a:xfrm>
          <a:prstGeom prst="roundRect">
            <a:avLst>
              <a:gd name="adj" fmla="val 30000"/>
            </a:avLst>
          </a:prstGeom>
          <a:solidFill>
            <a:srgbClr val="E8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b="1" sz="1100">
                <a:solidFill>
                  <a:srgbClr val="0F4C4C"/>
                </a:solidFill>
                <a:latin typeface="Segoe UI"/>
              </a:rPr>
              <a:t>BINA  </a:t>
            </a:r>
            <a:r>
              <a:rPr sz="1000">
                <a:solidFill>
                  <a:srgbClr val="1C2B2B"/>
                </a:solidFill>
                <a:latin typeface="Segoe UI"/>
              </a:rPr>
              <a:t>Bina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47488" y="4910328"/>
            <a:ext cx="2121408" cy="457200"/>
          </a:xfrm>
          <a:prstGeom prst="roundRect">
            <a:avLst>
              <a:gd name="adj" fmla="val 30000"/>
            </a:avLst>
          </a:prstGeom>
          <a:solidFill>
            <a:srgbClr val="E8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b="1" sz="1100">
                <a:solidFill>
                  <a:srgbClr val="0F4C4C"/>
                </a:solidFill>
                <a:latin typeface="Segoe UI"/>
              </a:rPr>
              <a:t>KKR  </a:t>
            </a:r>
            <a:r>
              <a:rPr sz="1000">
                <a:solidFill>
                  <a:srgbClr val="1C2B2B"/>
                </a:solidFill>
                <a:latin typeface="Segoe UI"/>
              </a:rPr>
              <a:t>Kakri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96912" y="4910328"/>
            <a:ext cx="2121408" cy="457200"/>
          </a:xfrm>
          <a:prstGeom prst="roundRect">
            <a:avLst>
              <a:gd name="adj" fmla="val 30000"/>
            </a:avLst>
          </a:prstGeom>
          <a:solidFill>
            <a:srgbClr val="E8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b="1" sz="1100">
                <a:solidFill>
                  <a:srgbClr val="0F4C4C"/>
                </a:solidFill>
                <a:latin typeface="Segoe UI"/>
              </a:rPr>
              <a:t>JRD  </a:t>
            </a:r>
            <a:r>
              <a:rPr sz="1000">
                <a:solidFill>
                  <a:srgbClr val="1C2B2B"/>
                </a:solidFill>
                <a:latin typeface="Segoe UI"/>
              </a:rPr>
              <a:t>Jhingurda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46336" y="4910328"/>
            <a:ext cx="2121408" cy="457200"/>
          </a:xfrm>
          <a:prstGeom prst="roundRect">
            <a:avLst>
              <a:gd name="adj" fmla="val 30000"/>
            </a:avLst>
          </a:prstGeom>
          <a:solidFill>
            <a:srgbClr val="E8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b="1" sz="1100">
                <a:solidFill>
                  <a:srgbClr val="0F4C4C"/>
                </a:solidFill>
                <a:latin typeface="Segoe UI"/>
              </a:rPr>
              <a:t>BLB  </a:t>
            </a:r>
            <a:r>
              <a:rPr sz="1000">
                <a:solidFill>
                  <a:srgbClr val="1C2B2B"/>
                </a:solidFill>
                <a:latin typeface="Segoe UI"/>
              </a:rPr>
              <a:t>Block-B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477256"/>
            <a:ext cx="2121408" cy="457200"/>
          </a:xfrm>
          <a:prstGeom prst="roundRect">
            <a:avLst>
              <a:gd name="adj" fmla="val 30000"/>
            </a:avLst>
          </a:prstGeom>
          <a:solidFill>
            <a:srgbClr val="E8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b="1" sz="1100">
                <a:solidFill>
                  <a:srgbClr val="0F4C4C"/>
                </a:solidFill>
                <a:latin typeface="Segoe UI"/>
              </a:rPr>
              <a:t>CWS  </a:t>
            </a:r>
            <a:r>
              <a:rPr sz="1000">
                <a:solidFill>
                  <a:srgbClr val="1C2B2B"/>
                </a:solidFill>
                <a:latin typeface="Segoe UI"/>
              </a:rPr>
              <a:t>Central Workshop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98064" y="5477256"/>
            <a:ext cx="2121408" cy="457200"/>
          </a:xfrm>
          <a:prstGeom prst="roundRect">
            <a:avLst>
              <a:gd name="adj" fmla="val 30000"/>
            </a:avLst>
          </a:prstGeom>
          <a:solidFill>
            <a:srgbClr val="E8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b="1" sz="1100">
                <a:solidFill>
                  <a:srgbClr val="0F4C4C"/>
                </a:solidFill>
                <a:latin typeface="Segoe UI"/>
              </a:rPr>
              <a:t>NSC  </a:t>
            </a:r>
            <a:r>
              <a:rPr sz="1000">
                <a:solidFill>
                  <a:srgbClr val="1C2B2B"/>
                </a:solidFill>
                <a:latin typeface="Segoe UI"/>
              </a:rPr>
              <a:t>Nehru Shatabdi Chikitsalaya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47488" y="5477256"/>
            <a:ext cx="2121408" cy="457200"/>
          </a:xfrm>
          <a:prstGeom prst="roundRect">
            <a:avLst>
              <a:gd name="adj" fmla="val 30000"/>
            </a:avLst>
          </a:prstGeom>
          <a:solidFill>
            <a:srgbClr val="E8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b="1" sz="1100">
                <a:solidFill>
                  <a:srgbClr val="0F4C4C"/>
                </a:solidFill>
                <a:latin typeface="Segoe UI"/>
              </a:rPr>
              <a:t>NHQ  </a:t>
            </a:r>
            <a:r>
              <a:rPr sz="1000">
                <a:solidFill>
                  <a:srgbClr val="1C2B2B"/>
                </a:solidFill>
                <a:latin typeface="Segoe UI"/>
              </a:rPr>
              <a:t>NCL HQ Colony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B08F4E"/>
                </a:solidFill>
                <a:latin typeface="Segoe U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0F4C4C"/>
                </a:solidFill>
                <a:latin typeface="Segoe UI"/>
              </a:rPr>
              <a:t>Why the paper register no longer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16152"/>
            <a:ext cx="914400" cy="45720"/>
          </a:xfrm>
          <a:prstGeom prst="rect">
            <a:avLst/>
          </a:prstGeom>
          <a:solidFill>
            <a:srgbClr val="C9A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17074"/>
                </a:solidFill>
                <a:latin typeface="Segoe UI"/>
              </a:rPr>
              <a:t>Colony Maintenance Portal · NCL Civil Department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17074"/>
                </a:solidFill>
                <a:latin typeface="Segoe UI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00200"/>
            <a:ext cx="352044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54864" cy="1828799"/>
          </a:xfrm>
          <a:prstGeom prst="rect">
            <a:avLst/>
          </a:prstGeom>
          <a:solidFill>
            <a:srgbClr val="A32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1783080"/>
            <a:ext cx="457200" cy="457200"/>
          </a:xfrm>
          <a:prstGeom prst="ellipse">
            <a:avLst/>
          </a:prstGeom>
          <a:solidFill>
            <a:srgbClr val="FB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A32A21"/>
                </a:solidFill>
                <a:latin typeface="Segoe UI"/>
              </a:rPr>
              <a:t>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783080"/>
            <a:ext cx="26060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A32A21"/>
                </a:solidFill>
                <a:latin typeface="Segoe UI"/>
              </a:rPr>
              <a:t>No evidence of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3154680" cy="137159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C2B2B"/>
                </a:solidFill>
                <a:latin typeface="Segoe UI"/>
              </a:rPr>
              <a:t>A complaint book cannot prove when work was assigned, done or checked. Contract disputes become one word against another.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79" y="1600200"/>
            <a:ext cx="352044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79" y="1737360"/>
            <a:ext cx="54864" cy="1828799"/>
          </a:xfrm>
          <a:prstGeom prst="rect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98847" y="1783080"/>
            <a:ext cx="457200" cy="457200"/>
          </a:xfrm>
          <a:prstGeom prst="ellipse">
            <a:avLst/>
          </a:prstGeom>
          <a:solidFill>
            <a:srgbClr val="FB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8A5A00"/>
                </a:solidFill>
                <a:latin typeface="Segoe UI"/>
              </a:rPr>
              <a:t>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19" y="1783080"/>
            <a:ext cx="26060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8A5A00"/>
                </a:solidFill>
                <a:latin typeface="Segoe UI"/>
              </a:rPr>
              <a:t>Delay cannot be attributed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79" y="2331720"/>
            <a:ext cx="3154680" cy="137159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C2B2B"/>
                </a:solidFill>
                <a:latin typeface="Segoe UI"/>
              </a:rPr>
              <a:t>Contractor time, departmental waiting and the occupant's locked door are mixed together.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19" y="1600200"/>
            <a:ext cx="352044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19" y="1737360"/>
            <a:ext cx="54864" cy="1828799"/>
          </a:xfrm>
          <a:prstGeom prst="rect">
            <a:avLst/>
          </a:prstGeom>
          <a:solidFill>
            <a:srgbClr val="A32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47888" y="1783080"/>
            <a:ext cx="457200" cy="457200"/>
          </a:xfrm>
          <a:prstGeom prst="ellipse">
            <a:avLst/>
          </a:prstGeom>
          <a:solidFill>
            <a:srgbClr val="FB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A32A21"/>
                </a:solidFill>
                <a:latin typeface="Segoe U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59" y="1783080"/>
            <a:ext cx="26060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A32A21"/>
                </a:solidFill>
                <a:latin typeface="Segoe UI"/>
              </a:rPr>
              <a:t>Closure on the contractor's word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19" y="2331720"/>
            <a:ext cx="3154680" cy="137159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C2B2B"/>
                </a:solidFill>
                <a:latin typeface="Segoe UI"/>
              </a:rPr>
              <a:t>Work is "done" when the contractor says so; inspection is a signature, not a check.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931920"/>
            <a:ext cx="352044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069080"/>
            <a:ext cx="54864" cy="1828799"/>
          </a:xfrm>
          <a:prstGeom prst="rect">
            <a:avLst/>
          </a:prstGeom>
          <a:solidFill>
            <a:srgbClr val="6A3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49808" y="4114800"/>
            <a:ext cx="457200" cy="457200"/>
          </a:xfrm>
          <a:prstGeom prst="ellipse">
            <a:avLst/>
          </a:prstGeom>
          <a:solidFill>
            <a:srgbClr val="F1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6A3D8F"/>
                </a:solidFill>
                <a:latin typeface="Segoe UI"/>
              </a:rPr>
              <a:t>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114800"/>
            <a:ext cx="26060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6A3D8F"/>
                </a:solidFill>
                <a:latin typeface="Segoe UI"/>
              </a:rPr>
              <a:t>Repeat faults hidden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663440"/>
            <a:ext cx="3154680" cy="137159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C2B2B"/>
                </a:solidFill>
                <a:latin typeface="Segoe UI"/>
              </a:rPr>
              <a:t>The same leak patched three times looks like three successes, not one failure.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97679" y="3931920"/>
            <a:ext cx="352044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97679" y="4069080"/>
            <a:ext cx="54864" cy="1828799"/>
          </a:xfrm>
          <a:prstGeom prst="rect">
            <a:avLst/>
          </a:prstGeom>
          <a:solidFill>
            <a:srgbClr val="2C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498847" y="4114800"/>
            <a:ext cx="457200" cy="457200"/>
          </a:xfrm>
          <a:prstGeom prst="ellipse">
            <a:avLst/>
          </a:prstGeom>
          <a:solidFill>
            <a:srgbClr val="E6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2C5A8A"/>
                </a:solidFill>
                <a:latin typeface="Segoe UI"/>
              </a:rPr>
              <a:t>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74919" y="4114800"/>
            <a:ext cx="26060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2C5A8A"/>
                </a:solidFill>
                <a:latin typeface="Segoe UI"/>
              </a:rPr>
              <a:t>No visibility upward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79" y="4663440"/>
            <a:ext cx="3154680" cy="137159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C2B2B"/>
                </a:solidFill>
                <a:latin typeface="Segoe UI"/>
              </a:rPr>
              <a:t>Incharge, Staff Officer and HQ learn of backlogs only when a resident escalates in person.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19" y="3931920"/>
            <a:ext cx="352044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46719" y="4069080"/>
            <a:ext cx="54864" cy="1828799"/>
          </a:xfrm>
          <a:prstGeom prst="rect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247888" y="4114800"/>
            <a:ext cx="457200" cy="457200"/>
          </a:xfrm>
          <a:prstGeom prst="ellipse">
            <a:avLst/>
          </a:prstGeom>
          <a:solidFill>
            <a:srgbClr val="FB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8A5A00"/>
                </a:solidFill>
                <a:latin typeface="Segoe UI"/>
              </a:rPr>
              <a:t>✎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23959" y="4114800"/>
            <a:ext cx="26060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8A5A00"/>
                </a:solidFill>
                <a:latin typeface="Segoe UI"/>
              </a:rPr>
              <a:t>Records can be altered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19" y="4663440"/>
            <a:ext cx="3154680" cy="137159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C2B2B"/>
                </a:solidFill>
                <a:latin typeface="Segoe UI"/>
              </a:rPr>
              <a:t>Entries are rewritten, pages lost; nothing shows who changed what, or when.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B08F4E"/>
                </a:solidFill>
                <a:latin typeface="Segoe UI"/>
              </a:rPr>
              <a:t>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0F4C4C"/>
                </a:solidFill>
                <a:latin typeface="Segoe UI"/>
              </a:rPr>
              <a:t>What the department asked for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16152"/>
            <a:ext cx="914400" cy="45720"/>
          </a:xfrm>
          <a:prstGeom prst="rect">
            <a:avLst/>
          </a:prstGeom>
          <a:solidFill>
            <a:srgbClr val="C9A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17074"/>
                </a:solidFill>
                <a:latin typeface="Segoe UI"/>
              </a:rPr>
              <a:t>Colony Maintenance Portal · NCL Civil Department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17074"/>
                </a:solidFill>
                <a:latin typeface="Segoe UI"/>
              </a:rPr>
              <a:t>5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645920"/>
            <a:ext cx="548640" cy="548640"/>
          </a:xfrm>
          <a:prstGeom prst="ellipse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600200"/>
            <a:ext cx="47548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0F4C4C"/>
                </a:solidFill>
                <a:latin typeface="Segoe UI"/>
              </a:rPr>
              <a:t>Residents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965960"/>
            <a:ext cx="475488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C2B2B"/>
                </a:solidFill>
                <a:latin typeface="Segoe UI"/>
              </a:rPr>
              <a:t>raise complaints from a phone, in English or Hindi, and see every step</a:t>
            </a:r>
          </a:p>
        </p:txBody>
      </p:sp>
      <p:sp>
        <p:nvSpPr>
          <p:cNvPr id="12" name="Oval 11"/>
          <p:cNvSpPr/>
          <p:nvPr/>
        </p:nvSpPr>
        <p:spPr>
          <a:xfrm>
            <a:off x="6217920" y="1645920"/>
            <a:ext cx="548640" cy="548640"/>
          </a:xfrm>
          <a:prstGeom prst="ellipse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600200"/>
            <a:ext cx="47548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0F4C4C"/>
                </a:solidFill>
                <a:latin typeface="Segoe UI"/>
              </a:rPr>
              <a:t>Department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965960"/>
            <a:ext cx="475488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C2B2B"/>
                </a:solidFill>
                <a:latin typeface="Segoe UI"/>
              </a:rPr>
              <a:t>verifies, assigns, inspects on site and closes — never the contractor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2788920"/>
            <a:ext cx="548640" cy="548640"/>
          </a:xfrm>
          <a:prstGeom prst="ellipse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743200"/>
            <a:ext cx="47548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0F4C4C"/>
                </a:solidFill>
                <a:latin typeface="Segoe UI"/>
              </a:rPr>
              <a:t>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108960"/>
            <a:ext cx="475488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C2B2B"/>
                </a:solidFill>
                <a:latin typeface="Segoe UI"/>
              </a:rPr>
              <a:t>every complaint counts as evidence for or against the Area's contractor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2788920"/>
            <a:ext cx="548640" cy="548640"/>
          </a:xfrm>
          <a:prstGeom prst="ellipse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2743200"/>
            <a:ext cx="47548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0F4C4C"/>
                </a:solidFill>
                <a:latin typeface="Segoe UI"/>
              </a:rPr>
              <a:t>SLA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108960"/>
            <a:ext cx="475488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C2B2B"/>
                </a:solidFill>
                <a:latin typeface="Segoe UI"/>
              </a:rPr>
              <a:t>response and completion figures per fault type, with escalation to GM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3931920"/>
            <a:ext cx="548640" cy="548640"/>
          </a:xfrm>
          <a:prstGeom prst="ellipse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886200"/>
            <a:ext cx="47548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0F4C4C"/>
                </a:solidFill>
                <a:latin typeface="Segoe UI"/>
              </a:rPr>
              <a:t>Fairness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251960"/>
            <a:ext cx="475488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C2B2B"/>
                </a:solidFill>
                <a:latin typeface="Segoe UI"/>
              </a:rPr>
              <a:t>contractor judged only on time the job was in their hands</a:t>
            </a:r>
          </a:p>
        </p:txBody>
      </p:sp>
      <p:sp>
        <p:nvSpPr>
          <p:cNvPr id="24" name="Oval 23"/>
          <p:cNvSpPr/>
          <p:nvPr/>
        </p:nvSpPr>
        <p:spPr>
          <a:xfrm>
            <a:off x="6217920" y="3931920"/>
            <a:ext cx="548640" cy="548640"/>
          </a:xfrm>
          <a:prstGeom prst="ellipse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886200"/>
            <a:ext cx="47548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0F4C4C"/>
                </a:solidFill>
                <a:latin typeface="Segoe UI"/>
              </a:rPr>
              <a:t>Security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4251960"/>
            <a:ext cx="475488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C2B2B"/>
                </a:solidFill>
                <a:latin typeface="Segoe UI"/>
              </a:rPr>
              <a:t>each Area sees only its own data; no passwords to share; tamper-proof history</a:t>
            </a:r>
          </a:p>
        </p:txBody>
      </p:sp>
      <p:sp>
        <p:nvSpPr>
          <p:cNvPr id="27" name="Oval 26"/>
          <p:cNvSpPr/>
          <p:nvPr/>
        </p:nvSpPr>
        <p:spPr>
          <a:xfrm>
            <a:off x="548640" y="5074920"/>
            <a:ext cx="548640" cy="548640"/>
          </a:xfrm>
          <a:prstGeom prst="ellipse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029200"/>
            <a:ext cx="47548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0F4C4C"/>
                </a:solidFill>
                <a:latin typeface="Segoe UI"/>
              </a:rPr>
              <a:t>Records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5394960"/>
            <a:ext cx="475488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C2B2B"/>
                </a:solidFill>
                <a:latin typeface="Segoe UI"/>
              </a:rPr>
              <a:t>work orders, job cards and materials kept with reasons for every change</a:t>
            </a:r>
          </a:p>
        </p:txBody>
      </p:sp>
      <p:sp>
        <p:nvSpPr>
          <p:cNvPr id="30" name="Oval 29"/>
          <p:cNvSpPr/>
          <p:nvPr/>
        </p:nvSpPr>
        <p:spPr>
          <a:xfrm>
            <a:off x="6217920" y="5074920"/>
            <a:ext cx="548640" cy="548640"/>
          </a:xfrm>
          <a:prstGeom prst="ellipse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5029200"/>
            <a:ext cx="47548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0F4C4C"/>
                </a:solidFill>
                <a:latin typeface="Segoe UI"/>
              </a:rPr>
              <a:t>Evidence only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5394960"/>
            <a:ext cx="475488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C2B2B"/>
                </a:solidFill>
                <a:latin typeface="Segoe UI"/>
              </a:rPr>
              <a:t>no penalties or bills computed — judgement stays with the department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B08F4E"/>
                </a:solidFill>
                <a:latin typeface="Segoe U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0F4C4C"/>
                </a:solidFill>
                <a:latin typeface="Segoe UI"/>
              </a:rPr>
              <a:t>The answer: a record built to be relied 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16152"/>
            <a:ext cx="914400" cy="45720"/>
          </a:xfrm>
          <a:prstGeom prst="rect">
            <a:avLst/>
          </a:prstGeom>
          <a:solidFill>
            <a:srgbClr val="C9A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17074"/>
                </a:solidFill>
                <a:latin typeface="Segoe UI"/>
              </a:rPr>
              <a:t>Colony Maintenance Portal · NCL Civil Department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17074"/>
                </a:solidFill>
                <a:latin typeface="Segoe UI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097280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C2B2B"/>
                </a:solidFill>
                <a:latin typeface="Segoe UI"/>
              </a:rPr>
              <a:t>The portal is not mainly a work-assignment tool. Every complaint is evidence of whether the contractor is meeting the contract — so every design choice protects the integrity of that record.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06040"/>
            <a:ext cx="2103120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2606040"/>
            <a:ext cx="2103120" cy="822960"/>
          </a:xfrm>
          <a:prstGeom prst="roundRect">
            <a:avLst>
              <a:gd name="adj" fmla="val 10000"/>
            </a:avLst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Two keys to close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611880"/>
            <a:ext cx="1783080" cy="2286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C2B2B"/>
                </a:solidFill>
                <a:latin typeface="Segoe UI"/>
              </a:rPr>
              <a:t>Contractor claims, Overseer inspects on site with a geo-tagged photograph taken in the app.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16352" y="2606040"/>
            <a:ext cx="2103120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16352" y="2606040"/>
            <a:ext cx="2103120" cy="822960"/>
          </a:xfrm>
          <a:prstGeom prst="roundRect">
            <a:avLst>
              <a:gd name="adj" fmla="val 10000"/>
            </a:avLst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Fair clock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80944" y="3611880"/>
            <a:ext cx="1783080" cy="2286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C2B2B"/>
                </a:solidFill>
                <a:latin typeface="Segoe UI"/>
              </a:rPr>
              <a:t>Only the contractor's own time counts, across every round, less recorded pauses.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84064" y="2606040"/>
            <a:ext cx="2103120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84064" y="2606040"/>
            <a:ext cx="2103120" cy="822960"/>
          </a:xfrm>
          <a:prstGeom prst="roundRect">
            <a:avLst>
              <a:gd name="adj" fmla="val 10000"/>
            </a:avLst>
          </a:prstGeom>
          <a:solidFill>
            <a:srgbClr val="2C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Database-enforced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48655" y="3611880"/>
            <a:ext cx="1783080" cy="2286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C2B2B"/>
                </a:solidFill>
                <a:latin typeface="Segoe UI"/>
              </a:rPr>
              <a:t>Area isolation and who-may-do-what are enforced by the database, not by screens.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51775" y="2606040"/>
            <a:ext cx="2103120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51775" y="2606040"/>
            <a:ext cx="2103120" cy="822960"/>
          </a:xfrm>
          <a:prstGeom prst="roundRect">
            <a:avLst>
              <a:gd name="adj" fmla="val 10000"/>
            </a:avLst>
          </a:prstGeom>
          <a:solidFill>
            <a:srgbClr val="6A3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Permanent history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16367" y="3611880"/>
            <a:ext cx="1783080" cy="2286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C2B2B"/>
                </a:solidFill>
                <a:latin typeface="Segoe UI"/>
              </a:rPr>
              <a:t>Every act recorded against person and role; history cannot be edited or deleted.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19488" y="2606040"/>
            <a:ext cx="2103120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19488" y="2606040"/>
            <a:ext cx="2103120" cy="822960"/>
          </a:xfrm>
          <a:prstGeom prst="roundRect">
            <a:avLst>
              <a:gd name="adj" fmla="val 10000"/>
            </a:avLst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Evidence 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3611880"/>
            <a:ext cx="1783080" cy="2286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C2B2B"/>
                </a:solidFill>
                <a:latin typeface="Segoe UI"/>
              </a:rPr>
              <a:t>No penalty, rate or bill is calculated. The department decides.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B08F4E"/>
                </a:solidFill>
                <a:latin typeface="Segoe U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0F4C4C"/>
                </a:solidFill>
                <a:latin typeface="Segoe UI"/>
              </a:rPr>
              <a:t>Who uses it — roles belong to people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16152"/>
            <a:ext cx="914400" cy="45720"/>
          </a:xfrm>
          <a:prstGeom prst="rect">
            <a:avLst/>
          </a:prstGeom>
          <a:solidFill>
            <a:srgbClr val="C9A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17074"/>
                </a:solidFill>
                <a:latin typeface="Segoe UI"/>
              </a:rPr>
              <a:t>Colony Maintenance Portal · NCL Civil Department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17074"/>
                </a:solidFill>
                <a:latin typeface="Segoe UI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08760"/>
            <a:ext cx="7360920" cy="548640"/>
          </a:xfrm>
          <a:prstGeom prst="roundRect">
            <a:avLst>
              <a:gd name="adj" fmla="val 25000"/>
            </a:avLst>
          </a:prstGeom>
          <a:solidFill>
            <a:srgbClr val="2C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HQ — GM Civil, Directors, CMD</a:t>
            </a:r>
            <a:r>
              <a:rPr sz="1050" b="0">
                <a:solidFill>
                  <a:srgbClr val="E8F4F4"/>
                </a:solidFill>
                <a:latin typeface="Segoe UI"/>
              </a:rPr>
              <a:t>   All Areas, read-only · final escalation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67128"/>
            <a:ext cx="6858000" cy="548640"/>
          </a:xfrm>
          <a:prstGeom prst="roundRect">
            <a:avLst>
              <a:gd name="adj" fmla="val 25000"/>
            </a:avLst>
          </a:prstGeom>
          <a:solidFill>
            <a:srgbClr val="617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Area HR / System Administrator</a:t>
            </a:r>
            <a:r>
              <a:rPr sz="1050" b="0">
                <a:solidFill>
                  <a:srgbClr val="E8F4F4"/>
                </a:solidFill>
                <a:latin typeface="Segoe UI"/>
              </a:rPr>
              <a:t>   People and roles below own rank · officials' phones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25496"/>
            <a:ext cx="6355080" cy="548640"/>
          </a:xfrm>
          <a:prstGeom prst="roundRect">
            <a:avLst>
              <a:gd name="adj" fmla="val 25000"/>
            </a:avLst>
          </a:prstGeom>
          <a:solidFill>
            <a:srgbClr val="6A3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Area Civil Staff Officer</a:t>
            </a:r>
            <a:r>
              <a:rPr sz="1050" b="0">
                <a:solidFill>
                  <a:srgbClr val="E8F4F4"/>
                </a:solidFill>
                <a:latin typeface="Segoe UI"/>
              </a:rPr>
              <a:t>   Second escalation · special repair · written dispute decisions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83864"/>
            <a:ext cx="5852160" cy="548640"/>
          </a:xfrm>
          <a:prstGeom prst="roundRect">
            <a:avLst>
              <a:gd name="adj" fmla="val 25000"/>
            </a:avLst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Civil Colony Incharge</a:t>
            </a:r>
            <a:r>
              <a:rPr sz="1050" b="0">
                <a:solidFill>
                  <a:srgbClr val="E8F4F4"/>
                </a:solidFill>
                <a:latin typeface="Segoe UI"/>
              </a:rPr>
              <a:t>   Assigns · work orders · appoints supervisors · first escalation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42231"/>
            <a:ext cx="5349240" cy="548640"/>
          </a:xfrm>
          <a:prstGeom prst="roundRect">
            <a:avLst>
              <a:gd name="adj" fmla="val 25000"/>
            </a:avLst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Civil Colony Overseer</a:t>
            </a:r>
            <a:r>
              <a:rPr sz="1050" b="0">
                <a:solidFill>
                  <a:srgbClr val="E8F4F4"/>
                </a:solidFill>
                <a:latin typeface="Segoe UI"/>
              </a:rPr>
              <a:t>   Verifies · inspects on site · closes · job card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800600"/>
            <a:ext cx="4846320" cy="548640"/>
          </a:xfrm>
          <a:prstGeom prst="roundRect">
            <a:avLst>
              <a:gd name="adj" fmla="val 25000"/>
            </a:avLst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Contractor &amp; Supervisor</a:t>
            </a:r>
            <a:r>
              <a:rPr sz="1050" b="0">
                <a:solidFill>
                  <a:srgbClr val="E8F4F4"/>
                </a:solidFill>
                <a:latin typeface="Segoe UI"/>
              </a:rPr>
              <a:t>   Own jobs only · start, photograph, claim completion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458968"/>
            <a:ext cx="4343400" cy="548640"/>
          </a:xfrm>
          <a:prstGeom prst="roundRect">
            <a:avLst>
              <a:gd name="adj" fmla="val 25000"/>
            </a:avLst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Resident / Custodian</a:t>
            </a:r>
            <a:r>
              <a:rPr sz="1050" b="0">
                <a:solidFill>
                  <a:srgbClr val="E8F4F4"/>
                </a:solidFill>
                <a:latin typeface="Segoe UI"/>
              </a:rPr>
              <a:t>   Own quarter or building · raise, object, confirm, reopen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508760"/>
            <a:ext cx="260604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52560" y="1645919"/>
            <a:ext cx="54864" cy="4069080"/>
          </a:xfrm>
          <a:prstGeom prst="rect">
            <a:avLst/>
          </a:prstGeom>
          <a:solidFill>
            <a:srgbClr val="C9A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1691639"/>
            <a:ext cx="224028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C9A96A"/>
                </a:solidFill>
                <a:latin typeface="Segoe UI"/>
              </a:rPr>
              <a:t>One person, many hats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2057400"/>
            <a:ext cx="2240280" cy="3611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C2B2B"/>
                </a:solidFill>
                <a:latin typeface="Segoe UI"/>
              </a:rPr>
              <a:t>An Overseer living in D-12 is both "Civil Colony Overseer · Jayant" and "My quarter — D-12".
Sign in once, choose the role, switch from the header. Every act is recorded against the role and the person.
Escalation: Overseer → Incharge → Staff Officer → GM.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B08F4E"/>
                </a:solidFill>
                <a:latin typeface="Segoe U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0F4C4C"/>
                </a:solidFill>
                <a:latin typeface="Segoe UI"/>
              </a:rPr>
              <a:t>How a complaint moves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16152"/>
            <a:ext cx="914400" cy="45720"/>
          </a:xfrm>
          <a:prstGeom prst="rect">
            <a:avLst/>
          </a:prstGeom>
          <a:solidFill>
            <a:srgbClr val="C9A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17074"/>
                </a:solidFill>
                <a:latin typeface="Segoe UI"/>
              </a:rPr>
              <a:t>Colony Maintenance Portal · NCL Civil Department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17074"/>
                </a:solidFill>
                <a:latin typeface="Segoe UI"/>
              </a:rPr>
              <a:t>8</a:t>
            </a:r>
          </a:p>
        </p:txBody>
      </p:sp>
      <p:sp>
        <p:nvSpPr>
          <p:cNvPr id="9" name="Pentagon 8"/>
          <p:cNvSpPr/>
          <p:nvPr/>
        </p:nvSpPr>
        <p:spPr>
          <a:xfrm>
            <a:off x="548640" y="1737360"/>
            <a:ext cx="1737360" cy="868680"/>
          </a:xfrm>
          <a:prstGeom prst="homePlate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Raised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79191"/>
            <a:ext cx="1463039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617074"/>
                </a:solidFill>
                <a:latin typeface="Segoe UI"/>
              </a:rPr>
              <a:t>Resident, in the app</a:t>
            </a:r>
          </a:p>
        </p:txBody>
      </p:sp>
      <p:sp>
        <p:nvSpPr>
          <p:cNvPr id="11" name="Chevron 10"/>
          <p:cNvSpPr/>
          <p:nvPr/>
        </p:nvSpPr>
        <p:spPr>
          <a:xfrm>
            <a:off x="2176272" y="1737360"/>
            <a:ext cx="1737360" cy="868680"/>
          </a:xfrm>
          <a:prstGeom prst="chevron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Verified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13432" y="2679191"/>
            <a:ext cx="1463039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617074"/>
                </a:solidFill>
                <a:latin typeface="Segoe UI"/>
              </a:rPr>
              <a:t>Overseer — SLA fixed here</a:t>
            </a:r>
          </a:p>
        </p:txBody>
      </p:sp>
      <p:sp>
        <p:nvSpPr>
          <p:cNvPr id="13" name="Chevron 12"/>
          <p:cNvSpPr/>
          <p:nvPr/>
        </p:nvSpPr>
        <p:spPr>
          <a:xfrm>
            <a:off x="3803903" y="1737360"/>
            <a:ext cx="1737360" cy="868680"/>
          </a:xfrm>
          <a:prstGeom prst="chevron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Assigned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41063" y="2679191"/>
            <a:ext cx="1463039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617074"/>
                </a:solidFill>
                <a:latin typeface="Segoe UI"/>
              </a:rPr>
              <a:t>Incharge or Overseer — job card prepared</a:t>
            </a:r>
          </a:p>
        </p:txBody>
      </p:sp>
      <p:sp>
        <p:nvSpPr>
          <p:cNvPr id="15" name="Chevron 14"/>
          <p:cNvSpPr/>
          <p:nvPr/>
        </p:nvSpPr>
        <p:spPr>
          <a:xfrm>
            <a:off x="5431536" y="1737360"/>
            <a:ext cx="1737360" cy="868680"/>
          </a:xfrm>
          <a:prstGeom prst="chevron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In progress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68696" y="2679191"/>
            <a:ext cx="1463039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617074"/>
                </a:solidFill>
                <a:latin typeface="Segoe UI"/>
              </a:rPr>
              <a:t>Supervisor names workmen</a:t>
            </a:r>
          </a:p>
        </p:txBody>
      </p:sp>
      <p:sp>
        <p:nvSpPr>
          <p:cNvPr id="17" name="Chevron 16"/>
          <p:cNvSpPr/>
          <p:nvPr/>
        </p:nvSpPr>
        <p:spPr>
          <a:xfrm>
            <a:off x="7059167" y="1737360"/>
            <a:ext cx="1737360" cy="868680"/>
          </a:xfrm>
          <a:prstGeom prst="chevron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Claimed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96327" y="2679191"/>
            <a:ext cx="1463039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617074"/>
                </a:solidFill>
                <a:latin typeface="Segoe UI"/>
              </a:rPr>
              <a:t>With before / after photos</a:t>
            </a:r>
          </a:p>
        </p:txBody>
      </p:sp>
      <p:sp>
        <p:nvSpPr>
          <p:cNvPr id="19" name="Chevron 18"/>
          <p:cNvSpPr/>
          <p:nvPr/>
        </p:nvSpPr>
        <p:spPr>
          <a:xfrm>
            <a:off x="8686799" y="1737360"/>
            <a:ext cx="1737360" cy="868680"/>
          </a:xfrm>
          <a:prstGeom prst="chevron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Inspected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59" y="2679191"/>
            <a:ext cx="1463039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617074"/>
                </a:solidFill>
                <a:latin typeface="Segoe UI"/>
              </a:rPr>
              <a:t>Overseer on site, geo-tagged photo</a:t>
            </a:r>
          </a:p>
        </p:txBody>
      </p:sp>
      <p:sp>
        <p:nvSpPr>
          <p:cNvPr id="21" name="Chevron 20"/>
          <p:cNvSpPr/>
          <p:nvPr/>
        </p:nvSpPr>
        <p:spPr>
          <a:xfrm>
            <a:off x="10314432" y="1737360"/>
            <a:ext cx="1737360" cy="868680"/>
          </a:xfrm>
          <a:prstGeom prst="chevron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Closed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51592" y="2679191"/>
            <a:ext cx="1463039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50" b="0" i="0">
                <a:solidFill>
                  <a:srgbClr val="617074"/>
                </a:solidFill>
                <a:latin typeface="Segoe UI"/>
              </a:rPr>
              <a:t>Resident confirms, rates or reopens in 24 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931920"/>
            <a:ext cx="2651760" cy="1417320"/>
          </a:xfrm>
          <a:prstGeom prst="roundRect">
            <a:avLst>
              <a:gd name="adj" fmla="val 8000"/>
            </a:avLst>
          </a:prstGeom>
          <a:solidFill>
            <a:srgbClr val="FBE7E5"/>
          </a:solidFill>
          <a:ln w="9525">
            <a:solidFill>
              <a:srgbClr val="A32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041648"/>
            <a:ext cx="23774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A32A21"/>
                </a:solidFill>
                <a:latin typeface="Segoe UI"/>
              </a:rPr>
              <a:t>Rejected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434840"/>
            <a:ext cx="237744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C2B2B"/>
                </a:solidFill>
                <a:latin typeface="Segoe UI"/>
              </a:rPr>
              <a:t>Reason shown to resident; may be contested once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3931920"/>
            <a:ext cx="2651760" cy="1417320"/>
          </a:xfrm>
          <a:prstGeom prst="roundRect">
            <a:avLst>
              <a:gd name="adj" fmla="val 8000"/>
            </a:avLst>
          </a:prstGeom>
          <a:solidFill>
            <a:srgbClr val="FBF1DC"/>
          </a:solidFill>
          <a:ln w="9525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66160" y="4041648"/>
            <a:ext cx="23774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8A5A00"/>
                </a:solidFill>
                <a:latin typeface="Segoe UI"/>
              </a:rPr>
              <a:t>Rework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4434840"/>
            <a:ext cx="237744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C2B2B"/>
                </a:solidFill>
                <a:latin typeface="Segoe UI"/>
              </a:rPr>
              <a:t>Inspection failed — back to contractor, counted against them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931920"/>
            <a:ext cx="2651760" cy="1417320"/>
          </a:xfrm>
          <a:prstGeom prst="roundRect">
            <a:avLst>
              <a:gd name="adj" fmla="val 8000"/>
            </a:avLst>
          </a:prstGeom>
          <a:solidFill>
            <a:srgbClr val="F1EAF7"/>
          </a:solidFill>
          <a:ln w="9525">
            <a:solidFill>
              <a:srgbClr val="6A3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041648"/>
            <a:ext cx="23774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6A3D8F"/>
                </a:solidFill>
                <a:latin typeface="Segoe UI"/>
              </a:rPr>
              <a:t>Reopened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434840"/>
            <a:ext cx="237744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C2B2B"/>
                </a:solidFill>
                <a:latin typeface="Segoe UI"/>
              </a:rPr>
              <a:t>Same ticket, never a new one; 3rd time goes to Staff Officer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52560" y="3931920"/>
            <a:ext cx="2651760" cy="1417320"/>
          </a:xfrm>
          <a:prstGeom prst="roundRect">
            <a:avLst>
              <a:gd name="adj" fmla="val 8000"/>
            </a:avLst>
          </a:prstGeom>
          <a:solidFill>
            <a:srgbClr val="E6EEF7"/>
          </a:solidFill>
          <a:ln w="9525">
            <a:solidFill>
              <a:srgbClr val="2C5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35440" y="4041648"/>
            <a:ext cx="23774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2C5A8A"/>
                </a:solidFill>
                <a:latin typeface="Segoe UI"/>
              </a:rPr>
              <a:t>Special repair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4434840"/>
            <a:ext cx="237744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C2B2B"/>
                </a:solidFill>
                <a:latin typeface="Segoe UI"/>
              </a:rPr>
              <a:t>Beyond the contract — Staff Officer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577840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0F4C4C"/>
                </a:solidFill>
                <a:latin typeface="Segoe UI"/>
              </a:rPr>
              <a:t>Every move is checked against a table of who may make it. Anything not listed is refused — the system administrator included.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B08F4E"/>
                </a:solidFill>
                <a:latin typeface="Segoe U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0F4C4C"/>
                </a:solidFill>
                <a:latin typeface="Segoe UI"/>
              </a:rPr>
              <a:t>A fair clock: the contractor is judged on their own 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16152"/>
            <a:ext cx="914400" cy="45720"/>
          </a:xfrm>
          <a:prstGeom prst="rect">
            <a:avLst/>
          </a:prstGeom>
          <a:solidFill>
            <a:srgbClr val="C9A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17074"/>
                </a:solidFill>
                <a:latin typeface="Segoe UI"/>
              </a:rPr>
              <a:t>Colony Maintenance Portal · NCL Civil Department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17074"/>
                </a:solidFill>
                <a:latin typeface="Segoe UI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C2B2B"/>
                </a:solidFill>
                <a:latin typeface="Segoe UI"/>
              </a:rPr>
              <a:t>Only periods when the job is in the contractor's hands are counted, added across every round, less recorded occupant or force-majeure pauses.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743200"/>
            <a:ext cx="1188720" cy="822960"/>
          </a:xfrm>
          <a:prstGeom prst="rect">
            <a:avLst/>
          </a:prstGeom>
          <a:solidFill>
            <a:srgbClr val="617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Verification
(department)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37360" y="2743200"/>
            <a:ext cx="2194560" cy="822960"/>
          </a:xfrm>
          <a:prstGeom prst="rect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Round 1
assigned → claim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0" y="2743200"/>
            <a:ext cx="1097280" cy="822960"/>
          </a:xfrm>
          <a:prstGeom prst="rect">
            <a:avLst/>
          </a:prstGeom>
          <a:solidFill>
            <a:srgbClr val="617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Inspection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2743200"/>
            <a:ext cx="1463040" cy="822960"/>
          </a:xfrm>
          <a:prstGeom prst="rect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Round 2
send-back → claim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2743200"/>
            <a:ext cx="822960" cy="822960"/>
          </a:xfrm>
          <a:prstGeom prst="rect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Pause:
quarter locked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2743200"/>
            <a:ext cx="914400" cy="822960"/>
          </a:xfrm>
          <a:prstGeom prst="rect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Round 2
cont.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743200"/>
            <a:ext cx="1097280" cy="822960"/>
          </a:xfrm>
          <a:prstGeom prst="rect">
            <a:avLst/>
          </a:prstGeom>
          <a:solidFill>
            <a:srgbClr val="617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Inspection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26880" y="2743200"/>
            <a:ext cx="2286000" cy="82296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Closed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703320"/>
            <a:ext cx="11064240" cy="27432"/>
          </a:xfrm>
          <a:prstGeom prst="rect">
            <a:avLst/>
          </a:prstGeom>
          <a:solidFill>
            <a:srgbClr val="DDD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84048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0F4C4C"/>
                </a:solidFill>
                <a:latin typeface="Segoe UI"/>
              </a:rPr>
              <a:t>Contractor time = Round 1 + Round 2 (less the pause)   →   compared with the SLA fixed at verification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663440"/>
            <a:ext cx="320040" cy="320040"/>
          </a:xfrm>
          <a:prstGeom prst="rect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617720"/>
            <a:ext cx="32004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0F4C4C"/>
                </a:solidFill>
                <a:latin typeface="Segoe UI"/>
              </a:rPr>
              <a:t>Counts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983480"/>
            <a:ext cx="3200400" cy="1280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C2B2B"/>
                </a:solidFill>
                <a:latin typeface="Segoe UI"/>
              </a:rPr>
              <a:t>Assignment, send-back or reassignment until the completion claim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79" y="4663440"/>
            <a:ext cx="320040" cy="320040"/>
          </a:xfrm>
          <a:prstGeom prst="rect">
            <a:avLst/>
          </a:prstGeom>
          <a:solidFill>
            <a:srgbClr val="617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79" y="4617720"/>
            <a:ext cx="32004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0F4C4C"/>
                </a:solidFill>
                <a:latin typeface="Segoe UI"/>
              </a:rPr>
              <a:t>Does not count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79" y="4983480"/>
            <a:ext cx="3200400" cy="1280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C2B2B"/>
                </a:solidFill>
                <a:latin typeface="Segoe UI"/>
              </a:rPr>
              <a:t>Verification, assignment, inspection — measured as the department's own delay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19" y="4663440"/>
            <a:ext cx="320040" cy="320040"/>
          </a:xfrm>
          <a:prstGeom prst="rect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19" y="4617720"/>
            <a:ext cx="32004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0F4C4C"/>
                </a:solidFill>
                <a:latin typeface="Segoe UI"/>
              </a:rPr>
              <a:t>Deducted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19" y="4983480"/>
            <a:ext cx="3200400" cy="1280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C2B2B"/>
                </a:solidFill>
                <a:latin typeface="Segoe UI"/>
              </a:rPr>
              <a:t>Occupant (locked, access refused) and force majeure — recorded only by an officer. Want of material or labour is the contractor's obligation.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B08F4E"/>
                </a:solidFill>
                <a:latin typeface="Segoe U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0F4C4C"/>
                </a:solidFill>
                <a:latin typeface="Segoe UI"/>
              </a:rPr>
              <a:t>Nine controls that protect the record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16152"/>
            <a:ext cx="914400" cy="45720"/>
          </a:xfrm>
          <a:prstGeom prst="rect">
            <a:avLst/>
          </a:prstGeom>
          <a:solidFill>
            <a:srgbClr val="C9A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17074"/>
                </a:solidFill>
                <a:latin typeface="Segoe UI"/>
              </a:rPr>
              <a:t>Colony Maintenance Portal · NCL Civil Department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17074"/>
                </a:solidFill>
                <a:latin typeface="Segoe UI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3520440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1737360"/>
            <a:ext cx="502920" cy="502920"/>
          </a:xfrm>
          <a:prstGeom prst="ellipse">
            <a:avLst/>
          </a:prstGeom>
          <a:solidFill>
            <a:srgbClr val="C9A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719072"/>
            <a:ext cx="26060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0F4C4C"/>
                </a:solidFill>
                <a:latin typeface="Segoe UI"/>
              </a:rPr>
              <a:t>Two-key closure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121408"/>
            <a:ext cx="256032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C2B2B"/>
                </a:solidFill>
                <a:latin typeface="Segoe UI"/>
              </a:rPr>
              <a:t>Contractor claims; only the Overseer closes after physical inspection — never the assignee.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79" y="1554480"/>
            <a:ext cx="3520440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80559" y="1737360"/>
            <a:ext cx="502920" cy="502920"/>
          </a:xfrm>
          <a:prstGeom prst="ellipse">
            <a:avLst/>
          </a:prstGeom>
          <a:solidFill>
            <a:srgbClr val="C9A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719072"/>
            <a:ext cx="26060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0F4C4C"/>
                </a:solidFill>
                <a:latin typeface="Segoe UI"/>
              </a:rPr>
              <a:t>Photos taken in the 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121408"/>
            <a:ext cx="256032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C2B2B"/>
                </a:solidFill>
                <a:latin typeface="Segoe UI"/>
              </a:rPr>
              <a:t>Location and time embedded at capture; no gallery upload.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9" y="1554480"/>
            <a:ext cx="3520440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599" y="1737360"/>
            <a:ext cx="502920" cy="502920"/>
          </a:xfrm>
          <a:prstGeom prst="ellipse">
            <a:avLst/>
          </a:prstGeom>
          <a:solidFill>
            <a:srgbClr val="C9A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1719072"/>
            <a:ext cx="26060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0F4C4C"/>
                </a:solidFill>
                <a:latin typeface="Segoe UI"/>
              </a:rPr>
              <a:t>Area isolation in the database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121408"/>
            <a:ext cx="256032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C2B2B"/>
                </a:solidFill>
                <a:latin typeface="Segoe UI"/>
              </a:rPr>
              <a:t>Jayant cannot see Nigahi by any route.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108960"/>
            <a:ext cx="3520440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" y="3291840"/>
            <a:ext cx="502920" cy="502920"/>
          </a:xfrm>
          <a:prstGeom prst="ellipse">
            <a:avLst/>
          </a:prstGeom>
          <a:solidFill>
            <a:srgbClr val="C9A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273552"/>
            <a:ext cx="26060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0F4C4C"/>
                </a:solidFill>
                <a:latin typeface="Segoe UI"/>
              </a:rPr>
              <a:t>Fixed field authority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675887"/>
            <a:ext cx="256032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C2B2B"/>
                </a:solidFill>
                <a:latin typeface="Segoe UI"/>
              </a:rPr>
              <a:t>SLA, deadlines and counters changed by no person at all.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79" y="3108960"/>
            <a:ext cx="3520440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480559" y="3291840"/>
            <a:ext cx="502920" cy="502920"/>
          </a:xfrm>
          <a:prstGeom prst="ellipse">
            <a:avLst/>
          </a:prstGeom>
          <a:solidFill>
            <a:srgbClr val="C9A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3273552"/>
            <a:ext cx="26060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0F4C4C"/>
                </a:solidFill>
                <a:latin typeface="Segoe UI"/>
              </a:rPr>
              <a:t>Every state change checked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3675887"/>
            <a:ext cx="256032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C2B2B"/>
                </a:solidFill>
                <a:latin typeface="Segoe UI"/>
              </a:rPr>
              <a:t>Against a table of who may make it.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19" y="3108960"/>
            <a:ext cx="3520440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599" y="3291840"/>
            <a:ext cx="502920" cy="502920"/>
          </a:xfrm>
          <a:prstGeom prst="ellipse">
            <a:avLst/>
          </a:prstGeom>
          <a:solidFill>
            <a:srgbClr val="C9A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3273552"/>
            <a:ext cx="26060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0F4C4C"/>
                </a:solidFill>
                <a:latin typeface="Segoe UI"/>
              </a:rPr>
              <a:t>Only two pauses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3675887"/>
            <a:ext cx="256032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C2B2B"/>
                </a:solidFill>
                <a:latin typeface="Segoe UI"/>
              </a:rPr>
              <a:t>Occupant and force majeure; recorded by officers only.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4663440"/>
            <a:ext cx="3520440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31520" y="4846320"/>
            <a:ext cx="502920" cy="502920"/>
          </a:xfrm>
          <a:prstGeom prst="ellipse">
            <a:avLst/>
          </a:prstGeom>
          <a:solidFill>
            <a:srgbClr val="C9A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4828031"/>
            <a:ext cx="26060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0F4C4C"/>
                </a:solidFill>
                <a:latin typeface="Segoe UI"/>
              </a:rPr>
              <a:t>Permanent history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5230368"/>
            <a:ext cx="256032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C2B2B"/>
                </a:solidFill>
                <a:latin typeface="Segoe UI"/>
              </a:rPr>
              <a:t>Audit and ticket history never edited or deleted.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97679" y="4663440"/>
            <a:ext cx="3520440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480559" y="4846320"/>
            <a:ext cx="502920" cy="502920"/>
          </a:xfrm>
          <a:prstGeom prst="ellipse">
            <a:avLst/>
          </a:prstGeom>
          <a:solidFill>
            <a:srgbClr val="C9A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4828031"/>
            <a:ext cx="26060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0F4C4C"/>
                </a:solidFill>
                <a:latin typeface="Segoe UI"/>
              </a:rPr>
              <a:t>Department sets inspection order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0640" y="5230368"/>
            <a:ext cx="256032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C2B2B"/>
                </a:solidFill>
                <a:latin typeface="Segoe UI"/>
              </a:rPr>
              <a:t>Emergency, priority, premises type, verification date.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46719" y="4663440"/>
            <a:ext cx="3520440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229599" y="4846320"/>
            <a:ext cx="502920" cy="502920"/>
          </a:xfrm>
          <a:prstGeom prst="ellipse">
            <a:avLst/>
          </a:prstGeom>
          <a:solidFill>
            <a:srgbClr val="C9A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9680" y="4828031"/>
            <a:ext cx="26060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0F4C4C"/>
                </a:solidFill>
                <a:latin typeface="Segoe UI"/>
              </a:rPr>
              <a:t>Evidence only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69680" y="5230368"/>
            <a:ext cx="256032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C2B2B"/>
                </a:solidFill>
                <a:latin typeface="Segoe UI"/>
              </a:rPr>
              <a:t>No penalty, damages or bill calculated.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B08F4E"/>
                </a:solidFill>
                <a:latin typeface="Segoe UI"/>
              </a:rPr>
              <a:t>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0F4C4C"/>
                </a:solidFill>
                <a:latin typeface="Segoe UI"/>
              </a:rPr>
              <a:t>Use case — the resident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16152"/>
            <a:ext cx="914400" cy="45720"/>
          </a:xfrm>
          <a:prstGeom prst="rect">
            <a:avLst/>
          </a:prstGeom>
          <a:solidFill>
            <a:srgbClr val="C9A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17074"/>
                </a:solidFill>
                <a:latin typeface="Segoe UI"/>
              </a:rPr>
              <a:t>Colony Maintenance Portal · NCL Civil Department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17074"/>
                </a:solidFill>
                <a:latin typeface="Segoe UI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85632" y="1307592"/>
            <a:ext cx="2587544" cy="5065776"/>
          </a:xfrm>
          <a:prstGeom prst="roundRect">
            <a:avLst>
              <a:gd name="adj" fmla="val 8000"/>
            </a:avLst>
          </a:prstGeom>
          <a:solidFill>
            <a:srgbClr val="1C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resid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1417320"/>
            <a:ext cx="2368088" cy="484632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548640" y="1636776"/>
            <a:ext cx="128016" cy="128016"/>
          </a:xfrm>
          <a:prstGeom prst="ellipse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554480"/>
            <a:ext cx="7223759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0F4C4C"/>
                </a:solidFill>
                <a:latin typeface="Segoe UI"/>
              </a:rPr>
              <a:t>Report in under a minute — </a:t>
            </a:r>
            <a:r>
              <a:rPr sz="1300" b="0" i="0">
                <a:solidFill>
                  <a:srgbClr val="1C2B2B"/>
                </a:solidFill>
                <a:latin typeface="Segoe UI"/>
              </a:rPr>
              <a:t>3 steps: what needs fixing, describe and photograph, check and send. English or Hindi.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2414015"/>
            <a:ext cx="128016" cy="128016"/>
          </a:xfrm>
          <a:prstGeom prst="ellipse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2331720"/>
            <a:ext cx="7223759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0F4C4C"/>
                </a:solidFill>
                <a:latin typeface="Segoe UI"/>
              </a:rPr>
              <a:t>Emergency — </a:t>
            </a:r>
            <a:r>
              <a:rPr sz="1300" b="0" i="0">
                <a:solidFill>
                  <a:srgbClr val="1C2B2B"/>
                </a:solidFill>
                <a:latin typeface="Segoe UI"/>
              </a:rPr>
              <a:t>No water, burst pipe, sewage overflow, structural crack — faster response and escalation.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191256"/>
            <a:ext cx="128016" cy="128016"/>
          </a:xfrm>
          <a:prstGeom prst="ellipse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3108960"/>
            <a:ext cx="7223759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0F4C4C"/>
                </a:solidFill>
                <a:latin typeface="Segoe UI"/>
              </a:rPr>
              <a:t>See every step — </a:t>
            </a:r>
            <a:r>
              <a:rPr sz="1300" b="0" i="0">
                <a:solidFill>
                  <a:srgbClr val="1C2B2B"/>
                </a:solidFill>
                <a:latin typeface="Segoe UI"/>
              </a:rPr>
              <a:t>Verified, assigned, in progress, inspected — with plain wording and notifications.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3968496"/>
            <a:ext cx="128016" cy="128016"/>
          </a:xfrm>
          <a:prstGeom prst="ellipse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3886200"/>
            <a:ext cx="7223759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0F4C4C"/>
                </a:solidFill>
                <a:latin typeface="Segoe UI"/>
              </a:rPr>
              <a:t>Object during work — </a:t>
            </a:r>
            <a:r>
              <a:rPr sz="1300" b="0" i="0">
                <a:solidFill>
                  <a:srgbClr val="1C2B2B"/>
                </a:solidFill>
                <a:latin typeface="Segoe UI"/>
              </a:rPr>
              <a:t>Goes to the Overseer and Incharge, not the contractor; answer due in 24 hours.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745736"/>
            <a:ext cx="128016" cy="128016"/>
          </a:xfrm>
          <a:prstGeom prst="ellipse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4663440"/>
            <a:ext cx="7223759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0F4C4C"/>
                </a:solidFill>
                <a:latin typeface="Segoe UI"/>
              </a:rPr>
              <a:t>Confirm, rate or reopen — </a:t>
            </a:r>
            <a:r>
              <a:rPr sz="1300" b="0" i="0">
                <a:solidFill>
                  <a:srgbClr val="1C2B2B"/>
                </a:solidFill>
                <a:latin typeface="Segoe UI"/>
              </a:rPr>
              <a:t>"Not fixed" reopens the same complaint — before or within 24 h after closure.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5522976"/>
            <a:ext cx="128016" cy="128016"/>
          </a:xfrm>
          <a:prstGeom prst="ellipse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5440680"/>
            <a:ext cx="7223759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0F4C4C"/>
                </a:solidFill>
                <a:latin typeface="Segoe UI"/>
              </a:rPr>
              <a:t>Contest a rejection — </a:t>
            </a:r>
            <a:r>
              <a:rPr sz="1300" b="0" i="0">
                <a:solidFill>
                  <a:srgbClr val="1C2B2B"/>
                </a:solidFill>
                <a:latin typeface="Segoe UI"/>
              </a:rPr>
              <a:t>Once; reviewed by the Overseer and Incharge, then the Staff Officer in writing.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B08F4E"/>
                </a:solidFill>
                <a:latin typeface="Segoe UI"/>
              </a:rPr>
              <a:t>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0F4C4C"/>
                </a:solidFill>
                <a:latin typeface="Segoe UI"/>
              </a:rPr>
              <a:t>Use case — the contractor's supervisor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16152"/>
            <a:ext cx="914400" cy="45720"/>
          </a:xfrm>
          <a:prstGeom prst="rect">
            <a:avLst/>
          </a:prstGeom>
          <a:solidFill>
            <a:srgbClr val="C9A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17074"/>
                </a:solidFill>
                <a:latin typeface="Segoe UI"/>
              </a:rPr>
              <a:t>Colony Maintenance Portal · NCL Civil Department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17074"/>
                </a:solidFill>
                <a:latin typeface="Segoe UI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1325880"/>
            <a:ext cx="2514600" cy="4983480"/>
          </a:xfrm>
          <a:prstGeom prst="roundRect">
            <a:avLst>
              <a:gd name="adj" fmla="val 8000"/>
            </a:avLst>
          </a:prstGeom>
          <a:solidFill>
            <a:srgbClr val="1C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13648" y="1463039"/>
            <a:ext cx="2295144" cy="4709160"/>
          </a:xfrm>
          <a:prstGeom prst="roundRect">
            <a:avLst>
              <a:gd name="adj" fmla="val 5000"/>
            </a:avLst>
          </a:prstGeom>
          <a:solidFill>
            <a:srgbClr val="F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13648" y="1600200"/>
            <a:ext cx="2295144" cy="502920"/>
          </a:xfrm>
          <a:prstGeom prst="rect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00" b="1">
                <a:solidFill>
                  <a:srgbClr val="FFFFFF"/>
                </a:solidFill>
                <a:latin typeface="Segoe UI"/>
              </a:rPr>
              <a:t>JNT/2026/00042 · B-234</a:t>
            </a:r>
          </a:p>
          <a:p>
            <a:pPr algn="l"/>
            <a:r>
              <a:rPr sz="850" b="0">
                <a:solidFill>
                  <a:srgbClr val="DCEBEA"/>
                </a:solidFill>
                <a:latin typeface="Segoe UI"/>
              </a:rPr>
              <a:t>Leaking tap · In progress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32520" y="2240280"/>
            <a:ext cx="205740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50" b="0">
                <a:solidFill>
                  <a:srgbClr val="617074"/>
                </a:solidFill>
                <a:latin typeface="Segoe UI"/>
              </a:rPr>
              <a:t>Workmen</a:t>
            </a:r>
          </a:p>
          <a:p>
            <a:pPr algn="l"/>
            <a:r>
              <a:rPr sz="1050" b="1">
                <a:solidFill>
                  <a:srgbClr val="0F4C4C"/>
                </a:solidFill>
                <a:latin typeface="Segoe UI"/>
              </a:rPr>
              <a:t>Ramesh, Suresh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32520" y="2898648"/>
            <a:ext cx="205740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50" b="0">
                <a:solidFill>
                  <a:srgbClr val="617074"/>
                </a:solidFill>
                <a:latin typeface="Segoe UI"/>
              </a:rPr>
              <a:t>Before photos</a:t>
            </a:r>
          </a:p>
          <a:p>
            <a:pPr algn="l"/>
            <a:r>
              <a:rPr sz="1050" b="1">
                <a:solidFill>
                  <a:srgbClr val="1F6F4A"/>
                </a:solidFill>
                <a:latin typeface="Segoe UI"/>
              </a:rPr>
              <a:t>1 of 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20" y="3557015"/>
            <a:ext cx="205740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50" b="0">
                <a:solidFill>
                  <a:srgbClr val="617074"/>
                </a:solidFill>
                <a:latin typeface="Segoe UI"/>
              </a:rPr>
              <a:t>After photos</a:t>
            </a:r>
          </a:p>
          <a:p>
            <a:pPr algn="l"/>
            <a:r>
              <a:rPr sz="1050" b="1">
                <a:solidFill>
                  <a:srgbClr val="1F6F4A"/>
                </a:solidFill>
                <a:latin typeface="Segoe UI"/>
              </a:rPr>
              <a:t>2 of 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32520" y="4215383"/>
            <a:ext cx="205740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850" b="0">
                <a:solidFill>
                  <a:srgbClr val="617074"/>
                </a:solidFill>
                <a:latin typeface="Segoe UI"/>
              </a:rPr>
              <a:t>Materials used</a:t>
            </a:r>
          </a:p>
          <a:p>
            <a:pPr algn="l"/>
            <a:r>
              <a:rPr sz="1050" b="1">
                <a:solidFill>
                  <a:srgbClr val="8A5A00"/>
                </a:solidFill>
                <a:latin typeface="Segoe UI"/>
              </a:rPr>
              <a:t>PVC pipe 20 mm · 2 Rm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520" y="5010912"/>
            <a:ext cx="2057400" cy="457200"/>
          </a:xfrm>
          <a:prstGeom prst="roundRect">
            <a:avLst>
              <a:gd name="adj" fmla="val 50000"/>
            </a:avLst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Mark complete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5559551"/>
            <a:ext cx="20574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>
                <a:solidFill>
                  <a:srgbClr val="617074"/>
                </a:solidFill>
                <a:latin typeface="Segoe UI"/>
              </a:rPr>
              <a:t>Enabled only with at least one before and one after photograph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6355080"/>
            <a:ext cx="2514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 i="0">
                <a:solidFill>
                  <a:srgbClr val="617074"/>
                </a:solidFill>
                <a:latin typeface="Segoe UI"/>
              </a:rPr>
              <a:t>Illustration of the job screen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1636776"/>
            <a:ext cx="128016" cy="128016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1554480"/>
            <a:ext cx="7223759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0F4C4C"/>
                </a:solidFill>
                <a:latin typeface="Segoe UI"/>
              </a:rPr>
              <a:t>Only their own jobs — </a:t>
            </a:r>
            <a:r>
              <a:rPr sz="1300" b="0" i="0">
                <a:solidFill>
                  <a:srgbClr val="1C2B2B"/>
                </a:solidFill>
                <a:latin typeface="Segoe UI"/>
              </a:rPr>
              <a:t>Grouped by stage: rework, to start, in progress, awaiting inspection.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2414015"/>
            <a:ext cx="128016" cy="128016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2331720"/>
            <a:ext cx="7223759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0F4C4C"/>
                </a:solidFill>
                <a:latin typeface="Segoe UI"/>
              </a:rPr>
              <a:t>Start work — </a:t>
            </a:r>
            <a:r>
              <a:rPr sz="1300" b="0" i="0">
                <a:solidFill>
                  <a:srgbClr val="1C2B2B"/>
                </a:solidFill>
                <a:latin typeface="Segoe UI"/>
              </a:rPr>
              <a:t>Names the workmen — recorded permanently for that round.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3191256"/>
            <a:ext cx="128016" cy="128016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" y="3108960"/>
            <a:ext cx="7223759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0F4C4C"/>
                </a:solidFill>
                <a:latin typeface="Segoe UI"/>
              </a:rPr>
              <a:t>Record materials used — </a:t>
            </a:r>
            <a:r>
              <a:rPr sz="1300" b="0" i="0">
                <a:solidFill>
                  <a:srgbClr val="1C2B2B"/>
                </a:solidFill>
                <a:latin typeface="Segoe UI"/>
              </a:rPr>
              <a:t>From the master list, quantities only, while the work is under way.</a:t>
            </a:r>
          </a:p>
        </p:txBody>
      </p:sp>
      <p:sp>
        <p:nvSpPr>
          <p:cNvPr id="25" name="Oval 24"/>
          <p:cNvSpPr/>
          <p:nvPr/>
        </p:nvSpPr>
        <p:spPr>
          <a:xfrm>
            <a:off x="548640" y="3968496"/>
            <a:ext cx="128016" cy="128016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" y="3886200"/>
            <a:ext cx="7223759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0F4C4C"/>
                </a:solidFill>
                <a:latin typeface="Segoe UI"/>
              </a:rPr>
              <a:t>Before and after photographs — </a:t>
            </a:r>
            <a:r>
              <a:rPr sz="1300" b="0" i="0">
                <a:solidFill>
                  <a:srgbClr val="1C2B2B"/>
                </a:solidFill>
                <a:latin typeface="Segoe UI"/>
              </a:rPr>
              <a:t>1 to 3 of each, taken in the app; fresh ones every round.</a:t>
            </a:r>
          </a:p>
        </p:txBody>
      </p:sp>
      <p:sp>
        <p:nvSpPr>
          <p:cNvPr id="27" name="Oval 26"/>
          <p:cNvSpPr/>
          <p:nvPr/>
        </p:nvSpPr>
        <p:spPr>
          <a:xfrm>
            <a:off x="548640" y="4745736"/>
            <a:ext cx="128016" cy="128016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59" y="4663440"/>
            <a:ext cx="7223759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0F4C4C"/>
                </a:solidFill>
                <a:latin typeface="Segoe UI"/>
              </a:rPr>
              <a:t>Claim completion — </a:t>
            </a:r>
            <a:r>
              <a:rPr sz="1300" b="0" i="0">
                <a:solidFill>
                  <a:srgbClr val="1C2B2B"/>
                </a:solidFill>
                <a:latin typeface="Segoe UI"/>
              </a:rPr>
              <a:t>The claim stops their clock. They cannot close, inspect or downgrade an emergency.</a:t>
            </a:r>
          </a:p>
        </p:txBody>
      </p:sp>
      <p:sp>
        <p:nvSpPr>
          <p:cNvPr id="29" name="Oval 28"/>
          <p:cNvSpPr/>
          <p:nvPr/>
        </p:nvSpPr>
        <p:spPr>
          <a:xfrm>
            <a:off x="548640" y="5522976"/>
            <a:ext cx="128016" cy="128016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59" y="5440680"/>
            <a:ext cx="7223759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0F4C4C"/>
                </a:solidFill>
                <a:latin typeface="Segoe UI"/>
              </a:rPr>
              <a:t>Kept out of the department's business — </a:t>
            </a:r>
            <a:r>
              <a:rPr sz="1300" b="0" i="0">
                <a:solidFill>
                  <a:srgbClr val="1C2B2B"/>
                </a:solidFill>
                <a:latin typeface="Segoe UI"/>
              </a:rPr>
              <a:t>No objections, disputes, residents' data or anomaly flags; access ends with the contract.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B08F4E"/>
                </a:solidFill>
                <a:latin typeface="Segoe UI"/>
              </a:rPr>
              <a:t>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0F4C4C"/>
                </a:solidFill>
                <a:latin typeface="Segoe UI"/>
              </a:rPr>
              <a:t>Use case — Overseer and Incharge: the work queue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16152"/>
            <a:ext cx="914400" cy="45720"/>
          </a:xfrm>
          <a:prstGeom prst="rect">
            <a:avLst/>
          </a:prstGeom>
          <a:solidFill>
            <a:srgbClr val="C9A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17074"/>
                </a:solidFill>
                <a:latin typeface="Segoe UI"/>
              </a:rPr>
              <a:t>Colony Maintenance Portal · NCL Civil Department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17074"/>
                </a:solidFill>
                <a:latin typeface="Segoe UI"/>
              </a:rPr>
              <a:t>13</a:t>
            </a:r>
          </a:p>
        </p:txBody>
      </p:sp>
      <p:pic>
        <p:nvPicPr>
          <p:cNvPr id="9" name="Picture 8" descr="que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7589520" cy="4532630"/>
          </a:xfrm>
          <a:prstGeom prst="rect">
            <a:avLst/>
          </a:prstGeom>
          <a:ln w="12700">
            <a:solidFill>
              <a:srgbClr val="DDD9CC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8412480" y="1463040"/>
            <a:ext cx="324612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12480" y="1600200"/>
            <a:ext cx="54864" cy="777239"/>
          </a:xfrm>
          <a:prstGeom prst="rect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1645920"/>
            <a:ext cx="28803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0F4C4C"/>
                </a:solidFill>
                <a:latin typeface="Segoe UI"/>
              </a:rPr>
              <a:t>Today's work at a glance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2011680"/>
            <a:ext cx="2880360" cy="32003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C2B2B"/>
                </a:solidFill>
                <a:latin typeface="Segoe UI"/>
              </a:rPr>
              <a:t>Open, due soon, overdue, to assign.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2651760"/>
            <a:ext cx="324612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0" y="2788920"/>
            <a:ext cx="54864" cy="777239"/>
          </a:xfrm>
          <a:prstGeom prst="rect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41080" y="2834640"/>
            <a:ext cx="28803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0F4C4C"/>
                </a:solidFill>
                <a:latin typeface="Segoe UI"/>
              </a:rPr>
              <a:t>Verify and assign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3200400"/>
            <a:ext cx="2880360" cy="32003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C2B2B"/>
                </a:solidFill>
                <a:latin typeface="Segoe UI"/>
              </a:rPr>
              <a:t>Single or bulk (up to 200); firm shown under each supervisor.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3840480"/>
            <a:ext cx="324612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12480" y="3977640"/>
            <a:ext cx="54864" cy="777239"/>
          </a:xfrm>
          <a:prstGeom prst="rect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41080" y="4023360"/>
            <a:ext cx="28803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0F4C4C"/>
                </a:solidFill>
                <a:latin typeface="Segoe UI"/>
              </a:rPr>
              <a:t>Side panel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4389120"/>
            <a:ext cx="2880360" cy="32003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C2B2B"/>
                </a:solidFill>
                <a:latin typeface="Segoe UI"/>
              </a:rPr>
              <a:t>Every action for the complaint, job card, materials, disputes, history.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0" y="5029200"/>
            <a:ext cx="324612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12480" y="5166360"/>
            <a:ext cx="54864" cy="777239"/>
          </a:xfrm>
          <a:prstGeom prst="rect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41080" y="5212080"/>
            <a:ext cx="28803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0F4C4C"/>
                </a:solidFill>
                <a:latin typeface="Segoe UI"/>
              </a:rPr>
              <a:t>Pause and priority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5577840"/>
            <a:ext cx="2880360" cy="32003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C2B2B"/>
                </a:solidFill>
                <a:latin typeface="Segoe UI"/>
              </a:rPr>
              <a:t>Officers record occupant or force-majeure pauses and set inspection priority.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B08F4E"/>
                </a:solidFill>
                <a:latin typeface="Segoe UI"/>
              </a:rPr>
              <a:t>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0F4C4C"/>
                </a:solidFill>
                <a:latin typeface="Segoe UI"/>
              </a:rPr>
              <a:t>Inspection: the gate that makes the record real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16152"/>
            <a:ext cx="914400" cy="45720"/>
          </a:xfrm>
          <a:prstGeom prst="rect">
            <a:avLst/>
          </a:prstGeom>
          <a:solidFill>
            <a:srgbClr val="C9A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17074"/>
                </a:solidFill>
                <a:latin typeface="Segoe UI"/>
              </a:rPr>
              <a:t>Colony Maintenance Portal · NCL Civil Department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17074"/>
                </a:solidFill>
                <a:latin typeface="Segoe UI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51206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F4C4C"/>
                </a:solidFill>
                <a:latin typeface="Segoe UI"/>
              </a:rPr>
              <a:t>Every acceptance passes all five gates — enforced by the database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965960"/>
            <a:ext cx="4572000" cy="53035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1C2B2B"/>
                </a:solidFill>
                <a:latin typeface="Segoe UI"/>
              </a:rPr>
              <a:t>Signed in on the registered phone</a:t>
            </a:r>
          </a:p>
        </p:txBody>
      </p:sp>
      <p:sp>
        <p:nvSpPr>
          <p:cNvPr id="11" name="Oval 10"/>
          <p:cNvSpPr/>
          <p:nvPr/>
        </p:nvSpPr>
        <p:spPr>
          <a:xfrm>
            <a:off x="11201400" y="2020824"/>
            <a:ext cx="420624" cy="420624"/>
          </a:xfrm>
          <a:prstGeom prst="ellipse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624328"/>
            <a:ext cx="4572000" cy="53035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1C2B2B"/>
                </a:solidFill>
                <a:latin typeface="Segoe UI"/>
              </a:rPr>
              <a:t>Photograph taken in the app, with location</a:t>
            </a:r>
          </a:p>
        </p:txBody>
      </p:sp>
      <p:sp>
        <p:nvSpPr>
          <p:cNvPr id="13" name="Oval 12"/>
          <p:cNvSpPr/>
          <p:nvPr/>
        </p:nvSpPr>
        <p:spPr>
          <a:xfrm>
            <a:off x="11201400" y="2679192"/>
            <a:ext cx="420624" cy="420624"/>
          </a:xfrm>
          <a:prstGeom prst="ellipse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3282696"/>
            <a:ext cx="4572000" cy="53035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1C2B2B"/>
                </a:solidFill>
                <a:latin typeface="Segoe UI"/>
              </a:rPr>
              <a:t>Photograph is the inspector's own</a:t>
            </a:r>
          </a:p>
        </p:txBody>
      </p:sp>
      <p:sp>
        <p:nvSpPr>
          <p:cNvPr id="15" name="Oval 14"/>
          <p:cNvSpPr/>
          <p:nvPr/>
        </p:nvSpPr>
        <p:spPr>
          <a:xfrm>
            <a:off x="11201400" y="3337560"/>
            <a:ext cx="420624" cy="420624"/>
          </a:xfrm>
          <a:prstGeom prst="ellipse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3941064"/>
            <a:ext cx="4572000" cy="53035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1C2B2B"/>
                </a:solidFill>
                <a:latin typeface="Segoe UI"/>
              </a:rPr>
              <a:t>Taken after this completion claim</a:t>
            </a:r>
          </a:p>
        </p:txBody>
      </p:sp>
      <p:sp>
        <p:nvSpPr>
          <p:cNvPr id="17" name="Oval 16"/>
          <p:cNvSpPr/>
          <p:nvPr/>
        </p:nvSpPr>
        <p:spPr>
          <a:xfrm>
            <a:off x="11201400" y="3995928"/>
            <a:ext cx="420624" cy="420624"/>
          </a:xfrm>
          <a:prstGeom prst="ellipse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4599431"/>
            <a:ext cx="4572000" cy="53035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1C2B2B"/>
                </a:solidFill>
                <a:latin typeface="Segoe UI"/>
              </a:rPr>
              <a:t>Inspector is not the assigned person</a:t>
            </a:r>
          </a:p>
        </p:txBody>
      </p:sp>
      <p:sp>
        <p:nvSpPr>
          <p:cNvPr id="19" name="Oval 18"/>
          <p:cNvSpPr/>
          <p:nvPr/>
        </p:nvSpPr>
        <p:spPr>
          <a:xfrm>
            <a:off x="11201400" y="4654295"/>
            <a:ext cx="420624" cy="420624"/>
          </a:xfrm>
          <a:prstGeom prst="ellipse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5349240"/>
            <a:ext cx="5120640" cy="640080"/>
          </a:xfrm>
          <a:prstGeom prst="roundRect">
            <a:avLst>
              <a:gd name="adj" fmla="val 30000"/>
            </a:avLst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Inspected &amp; accepted — then the resident is asked to confirm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1636776"/>
            <a:ext cx="128016" cy="128016"/>
          </a:xfrm>
          <a:prstGeom prst="ellipse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1554480"/>
            <a:ext cx="5212080" cy="8961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0F4C4C"/>
                </a:solidFill>
                <a:latin typeface="Segoe UI"/>
              </a:rPr>
              <a:t>From the app only — </a:t>
            </a:r>
            <a:r>
              <a:rPr sz="1250" b="0" i="0">
                <a:solidFill>
                  <a:srgbClr val="1C2B2B"/>
                </a:solidFill>
                <a:latin typeface="Segoe UI"/>
              </a:rPr>
              <a:t>Acceptance is refused from a web password session.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2532887"/>
            <a:ext cx="128016" cy="128016"/>
          </a:xfrm>
          <a:prstGeom prst="ellipse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" y="2450591"/>
            <a:ext cx="5212080" cy="8961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0F4C4C"/>
                </a:solidFill>
                <a:latin typeface="Segoe UI"/>
              </a:rPr>
              <a:t>Overseer's own photograph — </a:t>
            </a:r>
            <a:r>
              <a:rPr sz="1250" b="0" i="0">
                <a:solidFill>
                  <a:srgbClr val="1C2B2B"/>
                </a:solidFill>
                <a:latin typeface="Segoe UI"/>
              </a:rPr>
              <a:t>Taken after the claim being inspected, with location and time embedded.</a:t>
            </a:r>
          </a:p>
        </p:txBody>
      </p:sp>
      <p:sp>
        <p:nvSpPr>
          <p:cNvPr id="25" name="Oval 24"/>
          <p:cNvSpPr/>
          <p:nvPr/>
        </p:nvSpPr>
        <p:spPr>
          <a:xfrm>
            <a:off x="548640" y="3429000"/>
            <a:ext cx="128016" cy="128016"/>
          </a:xfrm>
          <a:prstGeom prst="ellipse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" y="3346704"/>
            <a:ext cx="5212080" cy="8961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0F4C4C"/>
                </a:solidFill>
                <a:latin typeface="Segoe UI"/>
              </a:rPr>
              <a:t>Two keys by person — </a:t>
            </a:r>
            <a:r>
              <a:rPr sz="1250" b="0" i="0">
                <a:solidFill>
                  <a:srgbClr val="1C2B2B"/>
                </a:solidFill>
                <a:latin typeface="Segoe UI"/>
              </a:rPr>
              <a:t>The inspector may never be the person the work was assigned to — whatever roles they hold.</a:t>
            </a:r>
          </a:p>
        </p:txBody>
      </p:sp>
      <p:sp>
        <p:nvSpPr>
          <p:cNvPr id="27" name="Oval 26"/>
          <p:cNvSpPr/>
          <p:nvPr/>
        </p:nvSpPr>
        <p:spPr>
          <a:xfrm>
            <a:off x="548640" y="4325112"/>
            <a:ext cx="128016" cy="128016"/>
          </a:xfrm>
          <a:prstGeom prst="ellipse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59" y="4242816"/>
            <a:ext cx="5212080" cy="8961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0F4C4C"/>
                </a:solidFill>
                <a:latin typeface="Segoe UI"/>
              </a:rPr>
              <a:t>Queue set by the department — </a:t>
            </a:r>
            <a:r>
              <a:rPr sz="1250" b="0" i="0">
                <a:solidFill>
                  <a:srgbClr val="1C2B2B"/>
                </a:solidFill>
                <a:latin typeface="Segoe UI"/>
              </a:rPr>
              <a:t>Emergencies, priority, premises type, verification date — never the contractor's claim time.</a:t>
            </a:r>
          </a:p>
        </p:txBody>
      </p:sp>
      <p:sp>
        <p:nvSpPr>
          <p:cNvPr id="29" name="Oval 28"/>
          <p:cNvSpPr/>
          <p:nvPr/>
        </p:nvSpPr>
        <p:spPr>
          <a:xfrm>
            <a:off x="548640" y="5221224"/>
            <a:ext cx="128016" cy="128016"/>
          </a:xfrm>
          <a:prstGeom prst="ellipse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59" y="5138928"/>
            <a:ext cx="5212080" cy="8961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0F4C4C"/>
                </a:solidFill>
                <a:latin typeface="Segoe UI"/>
              </a:rPr>
              <a:t>Rework counted — </a:t>
            </a:r>
            <a:r>
              <a:rPr sz="1250" b="0" i="0">
                <a:solidFill>
                  <a:srgbClr val="1C2B2B"/>
                </a:solidFill>
                <a:latin typeface="Segoe UI"/>
              </a:rPr>
              <a:t>A send-back reopens the contractor's clock and is counted against them.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B08F4E"/>
                </a:solidFill>
                <a:latin typeface="Segoe UI"/>
              </a:rPr>
              <a:t>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0F4C4C"/>
                </a:solidFill>
                <a:latin typeface="Segoe UI"/>
              </a:rPr>
              <a:t>Disputes end with a written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16152"/>
            <a:ext cx="914400" cy="45720"/>
          </a:xfrm>
          <a:prstGeom prst="rect">
            <a:avLst/>
          </a:prstGeom>
          <a:solidFill>
            <a:srgbClr val="C9A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17074"/>
                </a:solidFill>
                <a:latin typeface="Segoe UI"/>
              </a:rPr>
              <a:t>Colony Maintenance Portal · NCL Civil Department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17074"/>
                </a:solidFill>
                <a:latin typeface="Segoe UI"/>
              </a:rPr>
              <a:t>15</a:t>
            </a:r>
          </a:p>
        </p:txBody>
      </p:sp>
      <p:sp>
        <p:nvSpPr>
          <p:cNvPr id="9" name="Pentagon 8"/>
          <p:cNvSpPr/>
          <p:nvPr/>
        </p:nvSpPr>
        <p:spPr>
          <a:xfrm>
            <a:off x="548640" y="1737360"/>
            <a:ext cx="2926080" cy="777240"/>
          </a:xfrm>
          <a:prstGeom prst="homePlate">
            <a:avLst/>
          </a:prstGeom>
          <a:solidFill>
            <a:srgbClr val="A32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Rejected</a:t>
            </a:r>
          </a:p>
        </p:txBody>
      </p:sp>
      <p:sp>
        <p:nvSpPr>
          <p:cNvPr id="10" name="Chevron 9"/>
          <p:cNvSpPr/>
          <p:nvPr/>
        </p:nvSpPr>
        <p:spPr>
          <a:xfrm>
            <a:off x="3364992" y="1737360"/>
            <a:ext cx="2926080" cy="777240"/>
          </a:xfrm>
          <a:prstGeom prst="chevron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Resident contests (once)</a:t>
            </a:r>
          </a:p>
        </p:txBody>
      </p:sp>
      <p:sp>
        <p:nvSpPr>
          <p:cNvPr id="11" name="Chevron 10"/>
          <p:cNvSpPr/>
          <p:nvPr/>
        </p:nvSpPr>
        <p:spPr>
          <a:xfrm>
            <a:off x="6181344" y="1737360"/>
            <a:ext cx="2926080" cy="777240"/>
          </a:xfrm>
          <a:prstGeom prst="chevron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Overseer / Incharge review</a:t>
            </a:r>
          </a:p>
        </p:txBody>
      </p:sp>
      <p:sp>
        <p:nvSpPr>
          <p:cNvPr id="12" name="Chevron 11"/>
          <p:cNvSpPr/>
          <p:nvPr/>
        </p:nvSpPr>
        <p:spPr>
          <a:xfrm>
            <a:off x="8997696" y="1737360"/>
            <a:ext cx="2926080" cy="777240"/>
          </a:xfrm>
          <a:prstGeom prst="chevron">
            <a:avLst/>
          </a:prstGeom>
          <a:solidFill>
            <a:srgbClr val="6A3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Staff Officer decides in writing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0604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17074"/>
                </a:solidFill>
                <a:latin typeface="Segoe UI"/>
              </a:rPr>
              <a:t>Reinstated at any stage → back to verification.  Upheld by the officers → goes automatically to the Staff Officer.</a:t>
            </a:r>
          </a:p>
        </p:txBody>
      </p:sp>
      <p:sp>
        <p:nvSpPr>
          <p:cNvPr id="14" name="Pentagon 13"/>
          <p:cNvSpPr/>
          <p:nvPr/>
        </p:nvSpPr>
        <p:spPr>
          <a:xfrm>
            <a:off x="548640" y="3246120"/>
            <a:ext cx="2926080" cy="777240"/>
          </a:xfrm>
          <a:prstGeom prst="homePlate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Closed / accepted</a:t>
            </a:r>
          </a:p>
        </p:txBody>
      </p:sp>
      <p:sp>
        <p:nvSpPr>
          <p:cNvPr id="15" name="Chevron 14"/>
          <p:cNvSpPr/>
          <p:nvPr/>
        </p:nvSpPr>
        <p:spPr>
          <a:xfrm>
            <a:off x="3364992" y="3246120"/>
            <a:ext cx="2926080" cy="777240"/>
          </a:xfrm>
          <a:prstGeom prst="chevron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Resident: "not fixed"</a:t>
            </a:r>
          </a:p>
        </p:txBody>
      </p:sp>
      <p:sp>
        <p:nvSpPr>
          <p:cNvPr id="16" name="Chevron 15"/>
          <p:cNvSpPr/>
          <p:nvPr/>
        </p:nvSpPr>
        <p:spPr>
          <a:xfrm>
            <a:off x="6181344" y="3246120"/>
            <a:ext cx="2926080" cy="777240"/>
          </a:xfrm>
          <a:prstGeom prst="chevron">
            <a:avLst/>
          </a:prstGeom>
          <a:solidFill>
            <a:srgbClr val="6A3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Reopened (same ticket)</a:t>
            </a:r>
          </a:p>
        </p:txBody>
      </p:sp>
      <p:sp>
        <p:nvSpPr>
          <p:cNvPr id="17" name="Chevron 16"/>
          <p:cNvSpPr/>
          <p:nvPr/>
        </p:nvSpPr>
        <p:spPr>
          <a:xfrm>
            <a:off x="8997696" y="3246120"/>
            <a:ext cx="2926080" cy="777240"/>
          </a:xfrm>
          <a:prstGeom prst="chevron">
            <a:avLst/>
          </a:prstGeom>
          <a:solidFill>
            <a:srgbClr val="6A3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3rd reopening → Staff Officer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17074"/>
                </a:solidFill>
                <a:latin typeface="Segoe UI"/>
              </a:rPr>
              <a:t>Until the Staff Officer decides — redo the work, close, or refer for special repair — nobody can reassign 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75488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F1EAF7"/>
          </a:solidFill>
          <a:ln w="9525">
            <a:solidFill>
              <a:srgbClr val="6A3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873752"/>
            <a:ext cx="10607040" cy="11887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6A3D8F"/>
                </a:solidFill>
                <a:latin typeface="Segoe UI"/>
              </a:rPr>
              <a:t>Final in the portal. </a:t>
            </a:r>
            <a:r>
              <a:rPr sz="1300" b="0" i="0">
                <a:solidFill>
                  <a:srgbClr val="1C2B2B"/>
                </a:solidFill>
                <a:latin typeface="Segoe UI"/>
              </a:rPr>
              <a:t>The decision is shown to the resident, Overseer and Incharge — never to the contractor. The resident is told: "Further disputes are not taken in the portal; you may write to the Area Civil Office." Patch-fixing becomes visible: the Area dashboard lists the quarter under repeat complaints.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B08F4E"/>
                </a:solidFill>
                <a:latin typeface="Segoe UI"/>
              </a:rPr>
              <a:t>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0F4C4C"/>
                </a:solidFill>
                <a:latin typeface="Segoe UI"/>
              </a:rPr>
              <a:t>Job card and materials — quantities, never money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16152"/>
            <a:ext cx="914400" cy="45720"/>
          </a:xfrm>
          <a:prstGeom prst="rect">
            <a:avLst/>
          </a:prstGeom>
          <a:solidFill>
            <a:srgbClr val="C9A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17074"/>
                </a:solidFill>
                <a:latin typeface="Segoe UI"/>
              </a:rPr>
              <a:t>Colony Maintenance Portal · NCL Civil Department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17074"/>
                </a:solidFill>
                <a:latin typeface="Segoe UI"/>
              </a:rPr>
              <a:t>16</a:t>
            </a:r>
          </a:p>
        </p:txBody>
      </p:sp>
      <p:pic>
        <p:nvPicPr>
          <p:cNvPr id="9" name="Picture 8" descr="job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371600"/>
            <a:ext cx="3105877" cy="4892040"/>
          </a:xfrm>
          <a:prstGeom prst="rect">
            <a:avLst/>
          </a:prstGeom>
          <a:ln w="12700">
            <a:solidFill>
              <a:srgbClr val="DDD9CC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989320" y="1463040"/>
            <a:ext cx="1554480" cy="3200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17074"/>
                </a:solidFill>
                <a:latin typeface="Segoe UI"/>
              </a:rPr>
              <a:t>The job card in the complaint panel: every round of the job, from the first assignment.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463040"/>
            <a:ext cx="521208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600200"/>
            <a:ext cx="54864" cy="1965960"/>
          </a:xfrm>
          <a:prstGeom prst="rect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645920"/>
            <a:ext cx="48463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0F4C4C"/>
                </a:solidFill>
                <a:latin typeface="Segoe UI"/>
              </a:rPr>
              <a:t>Job card — the whole life of the job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011680"/>
            <a:ext cx="4846320" cy="1508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C2B2B"/>
                </a:solidFill>
                <a:latin typeface="Segoe UI"/>
              </a:rPr>
              <a:t>Prepared by the database at first assignment (JC/JNT/2026/00042). Scope, site notes, work items with estimated quantities. Every round recorded from the first: supervisor, workmen, materials, photographs, inspection, the resident's answers. Prints on one A4 page with signature blocks.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886200"/>
            <a:ext cx="521208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023360"/>
            <a:ext cx="54864" cy="1965960"/>
          </a:xfrm>
          <a:prstGeom prst="rect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069080"/>
            <a:ext cx="48463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8A5A00"/>
                </a:solidFill>
                <a:latin typeface="Segoe UI"/>
              </a:rPr>
              <a:t>Materials — a record, never a bill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434840"/>
            <a:ext cx="4846320" cy="1508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C2B2B"/>
                </a:solidFill>
                <a:latin typeface="Segoe UI"/>
              </a:rPr>
              <a:t>Supervisor claims what was used; Overseer or Incharge verifies (never the claimant). Lines are withdrawn, never edited. Reports: consumption by contract and period (CSV) and anomaly flags — over-claim, above norm, repeat at the same premises within 90 days, unverified.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B08F4E"/>
                </a:solidFill>
                <a:latin typeface="Segoe UI"/>
              </a:rPr>
              <a:t>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0F4C4C"/>
                </a:solidFill>
                <a:latin typeface="Segoe UI"/>
              </a:rPr>
              <a:t>Work orders kept with a reason for every change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16152"/>
            <a:ext cx="914400" cy="45720"/>
          </a:xfrm>
          <a:prstGeom prst="rect">
            <a:avLst/>
          </a:prstGeom>
          <a:solidFill>
            <a:srgbClr val="C9A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17074"/>
                </a:solidFill>
                <a:latin typeface="Segoe UI"/>
              </a:rPr>
              <a:t>Colony Maintenance Portal · NCL Civil Department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17074"/>
                </a:solidFill>
                <a:latin typeface="Segoe UI"/>
              </a:rPr>
              <a:t>17</a:t>
            </a:r>
          </a:p>
        </p:txBody>
      </p:sp>
      <p:pic>
        <p:nvPicPr>
          <p:cNvPr id="9" name="Picture 8" descr="workor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7589520" cy="4532630"/>
          </a:xfrm>
          <a:prstGeom prst="rect">
            <a:avLst/>
          </a:prstGeom>
          <a:ln w="12700">
            <a:solidFill>
              <a:srgbClr val="DDD9CC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8412480" y="1463040"/>
            <a:ext cx="324612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12480" y="1600200"/>
            <a:ext cx="54864" cy="777239"/>
          </a:xfrm>
          <a:prstGeom prst="rect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1645920"/>
            <a:ext cx="28803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0F4C4C"/>
                </a:solidFill>
                <a:latin typeface="Segoe UI"/>
              </a:rPr>
              <a:t>Several contracts per Area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2011680"/>
            <a:ext cx="2880360" cy="32003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C2B2B"/>
                </a:solidFill>
                <a:latin typeface="Segoe UI"/>
              </a:rPr>
              <a:t>Kept by the Incharge and Staff Officer.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2651760"/>
            <a:ext cx="324612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0" y="2788920"/>
            <a:ext cx="54864" cy="777239"/>
          </a:xfrm>
          <a:prstGeom prst="rect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41080" y="2834640"/>
            <a:ext cx="28803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0F4C4C"/>
                </a:solidFill>
                <a:latin typeface="Segoe UI"/>
              </a:rPr>
              <a:t>Reasons compulsory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3200400"/>
            <a:ext cx="2880360" cy="32003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C2B2B"/>
                </a:solidFill>
                <a:latin typeface="Segoe UI"/>
              </a:rPr>
              <a:t>Old and new value logged by the database.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3840480"/>
            <a:ext cx="324612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12480" y="3977640"/>
            <a:ext cx="54864" cy="777239"/>
          </a:xfrm>
          <a:prstGeom prst="rect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41080" y="4023360"/>
            <a:ext cx="28803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0F4C4C"/>
                </a:solidFill>
                <a:latin typeface="Segoe UI"/>
              </a:rPr>
              <a:t>Extensions numbered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4389120"/>
            <a:ext cx="2880360" cy="32003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C2B2B"/>
                </a:solidFill>
                <a:latin typeface="Segoe UI"/>
              </a:rPr>
              <a:t>Order no., date, reason; date as awarded kept for ever.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0" y="5029200"/>
            <a:ext cx="324612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12480" y="5166360"/>
            <a:ext cx="54864" cy="777239"/>
          </a:xfrm>
          <a:prstGeom prst="rect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41080" y="5212080"/>
            <a:ext cx="28803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0F4C4C"/>
                </a:solidFill>
                <a:latin typeface="Segoe UI"/>
              </a:rPr>
              <a:t>Handover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5577840"/>
            <a:ext cx="2880360" cy="32003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C2B2B"/>
                </a:solidFill>
                <a:latin typeface="Segoe UI"/>
              </a:rPr>
              <a:t>Open complaints move with a clean cut-off; outgoing record frozen.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B08F4E"/>
                </a:solidFill>
                <a:latin typeface="Segoe UI"/>
              </a:rPr>
              <a:t>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0F4C4C"/>
                </a:solidFill>
                <a:latin typeface="Segoe UI"/>
              </a:rPr>
              <a:t>Area dashboard — live work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16152"/>
            <a:ext cx="914400" cy="45720"/>
          </a:xfrm>
          <a:prstGeom prst="rect">
            <a:avLst/>
          </a:prstGeom>
          <a:solidFill>
            <a:srgbClr val="C9A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17074"/>
                </a:solidFill>
                <a:latin typeface="Segoe UI"/>
              </a:rPr>
              <a:t>Colony Maintenance Portal · NCL Civil Department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17074"/>
                </a:solidFill>
                <a:latin typeface="Segoe UI"/>
              </a:rPr>
              <a:t>18</a:t>
            </a:r>
          </a:p>
        </p:txBody>
      </p:sp>
      <p:pic>
        <p:nvPicPr>
          <p:cNvPr id="9" name="Picture 8" descr="ar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7589520" cy="4532630"/>
          </a:xfrm>
          <a:prstGeom prst="rect">
            <a:avLst/>
          </a:prstGeom>
          <a:ln w="12700">
            <a:solidFill>
              <a:srgbClr val="DDD9CC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8412480" y="1463040"/>
            <a:ext cx="324612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12480" y="1600200"/>
            <a:ext cx="54864" cy="777239"/>
          </a:xfrm>
          <a:prstGeom prst="rect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1645920"/>
            <a:ext cx="28803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0F4C4C"/>
                </a:solidFill>
                <a:latin typeface="Segoe UI"/>
              </a:rPr>
              <a:t>Configurable cards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2011680"/>
            <a:ext cx="2880360" cy="32003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C2B2B"/>
                </a:solidFill>
                <a:latin typeface="Segoe UI"/>
              </a:rPr>
              <a:t>Which figures, in what order, when amber or red.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2651760"/>
            <a:ext cx="324612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0" y="2788920"/>
            <a:ext cx="54864" cy="777239"/>
          </a:xfrm>
          <a:prstGeom prst="rect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41080" y="2834640"/>
            <a:ext cx="28803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0F4C4C"/>
                </a:solidFill>
                <a:latin typeface="Segoe UI"/>
              </a:rPr>
              <a:t>Delay attribution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3200400"/>
            <a:ext cx="2880360" cy="32003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C2B2B"/>
                </a:solidFill>
                <a:latin typeface="Segoe UI"/>
              </a:rPr>
              <a:t>Contractor, department, occupant, force majeure.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3840480"/>
            <a:ext cx="324612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12480" y="3977640"/>
            <a:ext cx="54864" cy="777239"/>
          </a:xfrm>
          <a:prstGeom prst="rect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41080" y="4023360"/>
            <a:ext cx="28803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0F4C4C"/>
                </a:solidFill>
                <a:latin typeface="Segoe UI"/>
              </a:rPr>
              <a:t>Repeat complaints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4389120"/>
            <a:ext cx="2880360" cy="32003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C2B2B"/>
                </a:solidFill>
                <a:latin typeface="Segoe UI"/>
              </a:rPr>
              <a:t>Same quarter, same fault, 3+ reports — patch-fixing exposed.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0" y="5029200"/>
            <a:ext cx="324612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12480" y="5166360"/>
            <a:ext cx="54864" cy="777239"/>
          </a:xfrm>
          <a:prstGeom prst="rect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41080" y="5212080"/>
            <a:ext cx="28803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0F4C4C"/>
                </a:solidFill>
                <a:latin typeface="Segoe UI"/>
              </a:rPr>
              <a:t>Backlog warning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5577840"/>
            <a:ext cx="2880360" cy="32003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C2B2B"/>
                </a:solidFill>
                <a:latin typeface="Segoe UI"/>
              </a:rPr>
              <a:t>Inspection backlog flagged to the Incharge at 48 h.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B08F4E"/>
                </a:solidFill>
                <a:latin typeface="Segoe UI"/>
              </a:rPr>
              <a:t>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0F4C4C"/>
                </a:solidFill>
                <a:latin typeface="Segoe UI"/>
              </a:rPr>
              <a:t>Contractor scorecard — evidence for the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16152"/>
            <a:ext cx="914400" cy="45720"/>
          </a:xfrm>
          <a:prstGeom prst="rect">
            <a:avLst/>
          </a:prstGeom>
          <a:solidFill>
            <a:srgbClr val="C9A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17074"/>
                </a:solidFill>
                <a:latin typeface="Segoe UI"/>
              </a:rPr>
              <a:t>Colony Maintenance Portal · NCL Civil Department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17074"/>
                </a:solidFill>
                <a:latin typeface="Segoe UI"/>
              </a:rPr>
              <a:t>19</a:t>
            </a:r>
          </a:p>
        </p:txBody>
      </p:sp>
      <p:pic>
        <p:nvPicPr>
          <p:cNvPr id="9" name="Picture 8" descr="score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7589520" cy="4532630"/>
          </a:xfrm>
          <a:prstGeom prst="rect">
            <a:avLst/>
          </a:prstGeom>
          <a:ln w="12700">
            <a:solidFill>
              <a:srgbClr val="DDD9CC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8412480" y="1463040"/>
            <a:ext cx="324612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12480" y="1600200"/>
            <a:ext cx="54864" cy="777239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1645920"/>
            <a:ext cx="28803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1F6F4A"/>
                </a:solidFill>
                <a:latin typeface="Segoe UI"/>
              </a:rPr>
              <a:t>SLA compliance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2011680"/>
            <a:ext cx="2880360" cy="32003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C2B2B"/>
                </a:solidFill>
                <a:latin typeface="Segoe UI"/>
              </a:rPr>
              <a:t>On the contractor's own clock.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2651760"/>
            <a:ext cx="324612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0" y="2788920"/>
            <a:ext cx="54864" cy="777239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41080" y="2834640"/>
            <a:ext cx="28803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1F6F4A"/>
                </a:solidFill>
                <a:latin typeface="Segoe UI"/>
              </a:rPr>
              <a:t>Rework, objection, reopen rates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3200400"/>
            <a:ext cx="2880360" cy="32003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C2B2B"/>
                </a:solidFill>
                <a:latin typeface="Segoe UI"/>
              </a:rPr>
              <a:t>Counted by complaints, not events — defined so it cannot be read two ways.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3840480"/>
            <a:ext cx="324612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12480" y="3977640"/>
            <a:ext cx="54864" cy="777239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41080" y="4023360"/>
            <a:ext cx="28803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1F6F4A"/>
                </a:solidFill>
                <a:latin typeface="Segoe UI"/>
              </a:rPr>
              <a:t>CSV export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4389120"/>
            <a:ext cx="2880360" cy="32003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C2B2B"/>
                </a:solidFill>
                <a:latin typeface="Segoe UI"/>
              </a:rPr>
              <a:t>For the contract file.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0" y="5029200"/>
            <a:ext cx="324612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12480" y="5166360"/>
            <a:ext cx="54864" cy="777239"/>
          </a:xfrm>
          <a:prstGeom prst="rect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41080" y="5212080"/>
            <a:ext cx="28803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8A5A00"/>
                </a:solidFill>
                <a:latin typeface="Segoe UI"/>
              </a:rPr>
              <a:t>No money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5577840"/>
            <a:ext cx="2880360" cy="32003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C2B2B"/>
                </a:solidFill>
                <a:latin typeface="Segoe UI"/>
              </a:rPr>
              <a:t>Penalty decisions rest with the department.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B08F4E"/>
                </a:solidFill>
                <a:latin typeface="Segoe UI"/>
              </a:rPr>
              <a:t>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0F4C4C"/>
                </a:solidFill>
                <a:latin typeface="Segoe UI"/>
              </a:rPr>
              <a:t>HQ overview — all thirteen Areas, read-only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16152"/>
            <a:ext cx="914400" cy="45720"/>
          </a:xfrm>
          <a:prstGeom prst="rect">
            <a:avLst/>
          </a:prstGeom>
          <a:solidFill>
            <a:srgbClr val="C9A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17074"/>
                </a:solidFill>
                <a:latin typeface="Segoe UI"/>
              </a:rPr>
              <a:t>Colony Maintenance Portal · NCL Civil Department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17074"/>
                </a:solidFill>
                <a:latin typeface="Segoe UI"/>
              </a:rPr>
              <a:t>20</a:t>
            </a:r>
          </a:p>
        </p:txBody>
      </p:sp>
      <p:pic>
        <p:nvPicPr>
          <p:cNvPr id="9" name="Picture 8" descr="h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7589520" cy="4532630"/>
          </a:xfrm>
          <a:prstGeom prst="rect">
            <a:avLst/>
          </a:prstGeom>
          <a:ln w="12700">
            <a:solidFill>
              <a:srgbClr val="DDD9CC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8412480" y="1463040"/>
            <a:ext cx="324612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12480" y="1600200"/>
            <a:ext cx="54864" cy="777239"/>
          </a:xfrm>
          <a:prstGeom prst="rect">
            <a:avLst/>
          </a:prstGeom>
          <a:solidFill>
            <a:srgbClr val="2C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1645920"/>
            <a:ext cx="28803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2C5A8A"/>
                </a:solidFill>
                <a:latin typeface="Segoe UI"/>
              </a:rPr>
              <a:t>For GM Civil, Directors, CMD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2011680"/>
            <a:ext cx="2880360" cy="32003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C2B2B"/>
                </a:solidFill>
                <a:latin typeface="Segoe UI"/>
              </a:rPr>
              <a:t>Every Area side by side.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2651760"/>
            <a:ext cx="324612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0" y="2788920"/>
            <a:ext cx="54864" cy="777239"/>
          </a:xfrm>
          <a:prstGeom prst="rect">
            <a:avLst/>
          </a:prstGeom>
          <a:solidFill>
            <a:srgbClr val="2C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41080" y="2834640"/>
            <a:ext cx="28803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2C5A8A"/>
                </a:solidFill>
                <a:latin typeface="Segoe UI"/>
              </a:rPr>
              <a:t>Ranked by SLA compliance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3200400"/>
            <a:ext cx="2880360" cy="32003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C2B2B"/>
                </a:solidFill>
                <a:latin typeface="Segoe UI"/>
              </a:rPr>
              <a:t>Where to look first.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3840480"/>
            <a:ext cx="324612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12480" y="3977640"/>
            <a:ext cx="54864" cy="777239"/>
          </a:xfrm>
          <a:prstGeom prst="rect">
            <a:avLst/>
          </a:prstGeom>
          <a:solidFill>
            <a:srgbClr val="2C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41080" y="4023360"/>
            <a:ext cx="28803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2C5A8A"/>
                </a:solidFill>
                <a:latin typeface="Segoe UI"/>
              </a:rPr>
              <a:t>Meeting mode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4389120"/>
            <a:ext cx="2880360" cy="32003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C2B2B"/>
                </a:solidFill>
                <a:latin typeface="Segoe UI"/>
              </a:rPr>
              <a:t>Large type, rotates every 12 s for review meetings.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0" y="5029200"/>
            <a:ext cx="324612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12480" y="5166360"/>
            <a:ext cx="54864" cy="777239"/>
          </a:xfrm>
          <a:prstGeom prst="rect">
            <a:avLst/>
          </a:prstGeom>
          <a:solidFill>
            <a:srgbClr val="2C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41080" y="5212080"/>
            <a:ext cx="28803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2C5A8A"/>
                </a:solidFill>
                <a:latin typeface="Segoe UI"/>
              </a:rPr>
              <a:t>Escalation reaches the GM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5577840"/>
            <a:ext cx="2880360" cy="32003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C2B2B"/>
                </a:solidFill>
                <a:latin typeface="Segoe UI"/>
              </a:rPr>
              <a:t>Level 4 for emergencies and normal complaints.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B08F4E"/>
                </a:solidFill>
                <a:latin typeface="Segoe UI"/>
              </a:rPr>
              <a:t>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0F4C4C"/>
                </a:solidFill>
                <a:latin typeface="Segoe UI"/>
              </a:rPr>
              <a:t>From problem to answer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16152"/>
            <a:ext cx="914400" cy="45720"/>
          </a:xfrm>
          <a:prstGeom prst="rect">
            <a:avLst/>
          </a:prstGeom>
          <a:solidFill>
            <a:srgbClr val="C9A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17074"/>
                </a:solidFill>
                <a:latin typeface="Segoe UI"/>
              </a:rPr>
              <a:t>Colony Maintenance Portal · NCL Civil Department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17074"/>
                </a:solidFill>
                <a:latin typeface="Segoe UI"/>
              </a:rPr>
              <a:t>21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08760"/>
            <a:ext cx="4937760" cy="457200"/>
          </a:xfrm>
          <a:prstGeom prst="rect">
            <a:avLst/>
          </a:prstGeom>
          <a:solidFill>
            <a:srgbClr val="A32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08760"/>
            <a:ext cx="5349240" cy="4572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72768"/>
            <a:ext cx="45720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Today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572768"/>
            <a:ext cx="50292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With the portal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03120"/>
            <a:ext cx="493776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240279"/>
            <a:ext cx="46634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C2B2B"/>
                </a:solidFill>
                <a:latin typeface="Segoe UI"/>
              </a:rPr>
              <a:t>No evidence of performance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623560" y="2240279"/>
            <a:ext cx="548640" cy="320040"/>
          </a:xfrm>
          <a:prstGeom prst="rightArrow">
            <a:avLst/>
          </a:prstGeom>
          <a:solidFill>
            <a:srgbClr val="C9A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2103120"/>
            <a:ext cx="534924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194560"/>
            <a:ext cx="51206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F4C4C"/>
                </a:solidFill>
                <a:latin typeface="Segoe UI"/>
              </a:rPr>
              <a:t>Time-stamped history of every act, by person and role, that cannot be altered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788920"/>
            <a:ext cx="493776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926079"/>
            <a:ext cx="46634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C2B2B"/>
                </a:solidFill>
                <a:latin typeface="Segoe UI"/>
              </a:rPr>
              <a:t>Delay cannot be attributed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623560" y="2926079"/>
            <a:ext cx="548640" cy="320040"/>
          </a:xfrm>
          <a:prstGeom prst="rightArrow">
            <a:avLst/>
          </a:prstGeom>
          <a:solidFill>
            <a:srgbClr val="C9A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2788920"/>
            <a:ext cx="534924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880360"/>
            <a:ext cx="51206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F4C4C"/>
                </a:solidFill>
                <a:latin typeface="Segoe UI"/>
              </a:rPr>
              <a:t>Contractor's own clock across rounds; department's delay measured separately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474720"/>
            <a:ext cx="493776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611879"/>
            <a:ext cx="46634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C2B2B"/>
                </a:solidFill>
                <a:latin typeface="Segoe UI"/>
              </a:rPr>
              <a:t>Closure on the contractor's word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623560" y="3611879"/>
            <a:ext cx="548640" cy="320040"/>
          </a:xfrm>
          <a:prstGeom prst="rightArrow">
            <a:avLst/>
          </a:prstGeom>
          <a:solidFill>
            <a:srgbClr val="C9A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3474720"/>
            <a:ext cx="534924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3566160"/>
            <a:ext cx="51206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F4C4C"/>
                </a:solidFill>
                <a:latin typeface="Segoe UI"/>
              </a:rPr>
              <a:t>Two-key closure with on-site, geo-tagged inspection from the app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160520"/>
            <a:ext cx="493776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297680"/>
            <a:ext cx="46634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C2B2B"/>
                </a:solidFill>
                <a:latin typeface="Segoe UI"/>
              </a:rPr>
              <a:t>Repeat faults hidden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5623560" y="4297680"/>
            <a:ext cx="548640" cy="320040"/>
          </a:xfrm>
          <a:prstGeom prst="rightArrow">
            <a:avLst/>
          </a:prstGeom>
          <a:solidFill>
            <a:srgbClr val="C9A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4160520"/>
            <a:ext cx="534924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251959"/>
            <a:ext cx="51206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F4C4C"/>
                </a:solidFill>
                <a:latin typeface="Segoe UI"/>
              </a:rPr>
              <a:t>Reopenings counted; third reopening decided in writing by the Staff Officer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846320"/>
            <a:ext cx="493776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983480"/>
            <a:ext cx="46634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C2B2B"/>
                </a:solidFill>
                <a:latin typeface="Segoe UI"/>
              </a:rPr>
              <a:t>No visibility upward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5623560" y="4983480"/>
            <a:ext cx="548640" cy="320040"/>
          </a:xfrm>
          <a:prstGeom prst="rightArrow">
            <a:avLst/>
          </a:prstGeom>
          <a:solidFill>
            <a:srgbClr val="C9A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09360" y="4846320"/>
            <a:ext cx="534924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4937759"/>
            <a:ext cx="51206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F4C4C"/>
                </a:solidFill>
                <a:latin typeface="Segoe UI"/>
              </a:rPr>
              <a:t>Live Area dashboards, scorecards, HQ overview and four-level escalation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532120"/>
            <a:ext cx="493776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5669280"/>
            <a:ext cx="46634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C2B2B"/>
                </a:solidFill>
                <a:latin typeface="Segoe UI"/>
              </a:rPr>
              <a:t>Records can be altered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5623560" y="5669280"/>
            <a:ext cx="548640" cy="320040"/>
          </a:xfrm>
          <a:prstGeom prst="rightArrow">
            <a:avLst/>
          </a:prstGeom>
          <a:solidFill>
            <a:srgbClr val="C9A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09360" y="5532120"/>
            <a:ext cx="534924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5623559"/>
            <a:ext cx="512064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F4C4C"/>
                </a:solidFill>
                <a:latin typeface="Segoe UI"/>
              </a:rPr>
              <a:t>Reasons compulsory; database-written audit; nothing deleted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B08F4E"/>
                </a:solidFill>
                <a:latin typeface="Segoe UI"/>
              </a:rPr>
              <a:t>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0F4C4C"/>
                </a:solidFill>
                <a:latin typeface="Segoe UI"/>
              </a:rPr>
              <a:t>What NCL gains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16152"/>
            <a:ext cx="914400" cy="45720"/>
          </a:xfrm>
          <a:prstGeom prst="rect">
            <a:avLst/>
          </a:prstGeom>
          <a:solidFill>
            <a:srgbClr val="C9A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17074"/>
                </a:solidFill>
                <a:latin typeface="Segoe UI"/>
              </a:rPr>
              <a:t>Colony Maintenance Portal · NCL Civil Department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17074"/>
                </a:solidFill>
                <a:latin typeface="Segoe UI"/>
              </a:rPr>
              <a:t>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00200"/>
            <a:ext cx="352044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54864" cy="1828799"/>
          </a:xfrm>
          <a:prstGeom prst="rect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1783080"/>
            <a:ext cx="457200" cy="457200"/>
          </a:xfrm>
          <a:prstGeom prst="ellipse">
            <a:avLst/>
          </a:prstGeom>
          <a:solidFill>
            <a:srgbClr val="E8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0F4C4C"/>
                </a:solidFill>
                <a:latin typeface="Segoe UI"/>
              </a:rPr>
              <a:t>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783080"/>
            <a:ext cx="26060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0F4C4C"/>
                </a:solidFill>
                <a:latin typeface="Segoe UI"/>
              </a:rPr>
              <a:t>Stronger contract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3154680" cy="137159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C2B2B"/>
                </a:solidFill>
                <a:latin typeface="Segoe UI"/>
              </a:rPr>
              <a:t>A performance record that holds up in a dispute — every claim, inspection and delay evidenced.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79" y="1600200"/>
            <a:ext cx="352044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79" y="1737360"/>
            <a:ext cx="54864" cy="1828799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98847" y="1783080"/>
            <a:ext cx="457200" cy="457200"/>
          </a:xfrm>
          <a:prstGeom prst="ellipse">
            <a:avLst/>
          </a:prstGeom>
          <a:solidFill>
            <a:srgbClr val="E6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1F6F4A"/>
                </a:solidFill>
                <a:latin typeface="Segoe UI"/>
              </a:rPr>
              <a:t>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19" y="1783080"/>
            <a:ext cx="26060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F6F4A"/>
                </a:solidFill>
                <a:latin typeface="Segoe UI"/>
              </a:rPr>
              <a:t>Better service to employees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79" y="2331720"/>
            <a:ext cx="3154680" cy="137159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C2B2B"/>
                </a:solidFill>
                <a:latin typeface="Segoe UI"/>
              </a:rPr>
              <a:t>Residents report from their phone, see every step, and cannot be closed out while unsatisfied.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19" y="1600200"/>
            <a:ext cx="352044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19" y="1737360"/>
            <a:ext cx="54864" cy="1828799"/>
          </a:xfrm>
          <a:prstGeom prst="rect">
            <a:avLst/>
          </a:prstGeom>
          <a:solidFill>
            <a:srgbClr val="2C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47888" y="1783080"/>
            <a:ext cx="457200" cy="457200"/>
          </a:xfrm>
          <a:prstGeom prst="ellipse">
            <a:avLst/>
          </a:prstGeom>
          <a:solidFill>
            <a:srgbClr val="E6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2C5A8A"/>
                </a:solidFill>
                <a:latin typeface="Segoe UI"/>
              </a:rPr>
              <a:t>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59" y="1783080"/>
            <a:ext cx="26060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2C5A8A"/>
                </a:solidFill>
                <a:latin typeface="Segoe UI"/>
              </a:rPr>
              <a:t>Accountability at every level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19" y="2331720"/>
            <a:ext cx="3154680" cy="137159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C2B2B"/>
                </a:solidFill>
                <a:latin typeface="Segoe UI"/>
              </a:rPr>
              <a:t>Escalation Overseer → Incharge → Staff Officer → GM, automatically and on time.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931920"/>
            <a:ext cx="352044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069080"/>
            <a:ext cx="54864" cy="1828799"/>
          </a:xfrm>
          <a:prstGeom prst="rect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49808" y="4114800"/>
            <a:ext cx="457200" cy="457200"/>
          </a:xfrm>
          <a:prstGeom prst="ellipse">
            <a:avLst/>
          </a:prstGeom>
          <a:solidFill>
            <a:srgbClr val="FB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8A5A00"/>
                </a:solidFill>
                <a:latin typeface="Segoe UI"/>
              </a:rPr>
              <a:t>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114800"/>
            <a:ext cx="26060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8A5A00"/>
                </a:solidFill>
                <a:latin typeface="Segoe UI"/>
              </a:rPr>
              <a:t>Control of materials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663440"/>
            <a:ext cx="3154680" cy="137159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C2B2B"/>
                </a:solidFill>
                <a:latin typeface="Segoe UI"/>
              </a:rPr>
              <a:t>Quantities claimed against verified; anomalies flagged for the department.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97679" y="3931920"/>
            <a:ext cx="352044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97679" y="4069080"/>
            <a:ext cx="54864" cy="1828799"/>
          </a:xfrm>
          <a:prstGeom prst="rect">
            <a:avLst/>
          </a:prstGeom>
          <a:solidFill>
            <a:srgbClr val="6A3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498847" y="4114800"/>
            <a:ext cx="457200" cy="457200"/>
          </a:xfrm>
          <a:prstGeom prst="ellipse">
            <a:avLst/>
          </a:prstGeom>
          <a:solidFill>
            <a:srgbClr val="F1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6A3D8F"/>
                </a:solidFill>
                <a:latin typeface="Segoe UI"/>
              </a:rPr>
              <a:t>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74919" y="4114800"/>
            <a:ext cx="26060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6A3D8F"/>
                </a:solidFill>
                <a:latin typeface="Segoe UI"/>
              </a:rPr>
              <a:t>One system, thirteen Areas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79" y="4663440"/>
            <a:ext cx="3154680" cy="137159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C2B2B"/>
                </a:solidFill>
                <a:latin typeface="Segoe UI"/>
              </a:rPr>
              <a:t>Common rules, Area isolation, and the same figures for every Area at HQ.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19" y="3931920"/>
            <a:ext cx="352044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46719" y="4069080"/>
            <a:ext cx="54864" cy="1828799"/>
          </a:xfrm>
          <a:prstGeom prst="rect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247888" y="4114800"/>
            <a:ext cx="457200" cy="457200"/>
          </a:xfrm>
          <a:prstGeom prst="ellipse">
            <a:avLst/>
          </a:prstGeom>
          <a:solidFill>
            <a:srgbClr val="E8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0F4C4C"/>
                </a:solidFill>
                <a:latin typeface="Segoe UI"/>
              </a:rPr>
              <a:t>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23959" y="4114800"/>
            <a:ext cx="26060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0F4C4C"/>
                </a:solidFill>
                <a:latin typeface="Segoe UI"/>
              </a:rPr>
              <a:t>Reusable foundation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19" y="4663440"/>
            <a:ext cx="3154680" cy="137159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C2B2B"/>
                </a:solidFill>
                <a:latin typeface="Segoe UI"/>
              </a:rPr>
              <a:t>The identity service (people, phones, premises) is built for the future E&amp;M portal.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B08F4E"/>
                </a:solidFill>
                <a:latin typeface="Segoe UI"/>
              </a:rPr>
              <a:t>LOAD 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0F4C4C"/>
                </a:solidFill>
                <a:latin typeface="Segoe UI"/>
              </a:rPr>
              <a:t>Measured: can three Overseers per Area keep up?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16152"/>
            <a:ext cx="914400" cy="45720"/>
          </a:xfrm>
          <a:prstGeom prst="rect">
            <a:avLst/>
          </a:prstGeom>
          <a:solidFill>
            <a:srgbClr val="C9A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17074"/>
                </a:solidFill>
                <a:latin typeface="Segoe UI"/>
              </a:rPr>
              <a:t>Colony Maintenance Portal · NCL Civil Department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17074"/>
                </a:solidFill>
                <a:latin typeface="Segoe UI"/>
              </a:rPr>
              <a:t>23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1463040"/>
          <a:ext cx="694944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863840" y="1463040"/>
            <a:ext cx="379476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63840" y="1600200"/>
            <a:ext cx="54864" cy="1828799"/>
          </a:xfrm>
          <a:prstGeom prst="rect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1645920"/>
            <a:ext cx="342900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0F4C4C"/>
                </a:solidFill>
                <a:latin typeface="Segoe UI"/>
              </a:rPr>
              <a:t>Planning rate 0.5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011680"/>
            <a:ext cx="3429000" cy="137159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C2B2B"/>
                </a:solidFill>
                <a:latin typeface="Segoe UI"/>
              </a:rPr>
              <a:t>7.4 inspections per Overseer per day — 37 % of four field hours. Comfortable.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749039"/>
            <a:ext cx="379476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63840" y="3886200"/>
            <a:ext cx="54864" cy="2103120"/>
          </a:xfrm>
          <a:prstGeom prst="rect">
            <a:avLst/>
          </a:prstGeom>
          <a:solidFill>
            <a:srgbClr val="A32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3931920"/>
            <a:ext cx="342900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A32A21"/>
                </a:solidFill>
                <a:latin typeface="Segoe UI"/>
              </a:rPr>
              <a:t>Above about 1.25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4297679"/>
            <a:ext cx="3429000" cy="1645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C2B2B"/>
                </a:solidFill>
                <a:latin typeface="Segoe UI"/>
              </a:rPr>
              <a:t>Not a software question: a fourth Overseer in heavier Areas, a longer inspection SLA, or a lighter rule for the lowest-risk faults. Watch the inspection backlog in the first two months.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B08F4E"/>
                </a:solidFill>
                <a:latin typeface="Segoe UI"/>
              </a:rPr>
              <a:t>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0F4C4C"/>
                </a:solidFill>
                <a:latin typeface="Segoe UI"/>
              </a:rPr>
              <a:t>Built and tested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16152"/>
            <a:ext cx="914400" cy="45720"/>
          </a:xfrm>
          <a:prstGeom prst="rect">
            <a:avLst/>
          </a:prstGeom>
          <a:solidFill>
            <a:srgbClr val="C9A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17074"/>
                </a:solidFill>
                <a:latin typeface="Segoe UI"/>
              </a:rPr>
              <a:t>Colony Maintenance Portal · NCL Civil Department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17074"/>
                </a:solidFill>
                <a:latin typeface="Segoe UI"/>
              </a:rPr>
              <a:t>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00200"/>
            <a:ext cx="35204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828800"/>
            <a:ext cx="310896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0F4C4C"/>
                </a:solidFill>
                <a:latin typeface="Segoe UI"/>
              </a:rPr>
              <a:t>115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697480"/>
            <a:ext cx="310896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617074"/>
                </a:solidFill>
                <a:latin typeface="Segoe UI"/>
              </a:rPr>
              <a:t>API endpoints, all specified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79" y="1600200"/>
            <a:ext cx="35204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1999" y="1828800"/>
            <a:ext cx="310896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0F4C4C"/>
                </a:solidFill>
                <a:latin typeface="Segoe UI"/>
              </a:rPr>
              <a:t>826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2697480"/>
            <a:ext cx="310896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617074"/>
                </a:solidFill>
                <a:latin typeface="Segoe UI"/>
              </a:rPr>
              <a:t>automated tests passing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1600200"/>
            <a:ext cx="35204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828800"/>
            <a:ext cx="310896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0F4C4C"/>
                </a:solidFill>
                <a:latin typeface="Segoe U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697480"/>
            <a:ext cx="310896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617074"/>
                </a:solidFill>
                <a:latin typeface="Segoe UI"/>
              </a:rPr>
              <a:t>permission matrices, zero mismatches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4760"/>
            <a:ext cx="35204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4023360"/>
            <a:ext cx="310896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0F4C4C"/>
                </a:solidFill>
                <a:latin typeface="Segoe UI"/>
              </a:rPr>
              <a:t>&lt; 25 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892040"/>
            <a:ext cx="310896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617074"/>
                </a:solidFill>
                <a:latin typeface="Segoe UI"/>
              </a:rPr>
              <a:t>every everyday query at 90,000 complaints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79" y="3794760"/>
            <a:ext cx="35204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1999" y="4023360"/>
            <a:ext cx="310896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0F4C4C"/>
                </a:solidFill>
                <a:latin typeface="Segoe UI"/>
              </a:rPr>
              <a:t>~214 GB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4892040"/>
            <a:ext cx="310896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617074"/>
                </a:solidFill>
                <a:latin typeface="Segoe UI"/>
              </a:rPr>
              <a:t>photograph store, steady under 2-year retention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19" y="3794760"/>
            <a:ext cx="35204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4023360"/>
            <a:ext cx="310896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0F4C4C"/>
                </a:solidFill>
                <a:latin typeface="Segoe UI"/>
              </a:rPr>
              <a:t>20,000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892040"/>
            <a:ext cx="310896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617074"/>
                </a:solidFill>
                <a:latin typeface="Segoe UI"/>
              </a:rPr>
              <a:t>devices in the load simulation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B08F4E"/>
                </a:solidFill>
                <a:latin typeface="Segoe U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0F4C4C"/>
                </a:solidFill>
                <a:latin typeface="Segoe UI"/>
              </a:rPr>
              <a:t>Where it stands and what comes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16152"/>
            <a:ext cx="914400" cy="45720"/>
          </a:xfrm>
          <a:prstGeom prst="rect">
            <a:avLst/>
          </a:prstGeom>
          <a:solidFill>
            <a:srgbClr val="C9A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17074"/>
                </a:solidFill>
                <a:latin typeface="Segoe UI"/>
              </a:rPr>
              <a:t>Colony Maintenance Portal · NCL Civil Department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17074"/>
                </a:solidFill>
                <a:latin typeface="Segoe UI"/>
              </a:rPr>
              <a:t>25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31720"/>
            <a:ext cx="11064240" cy="54864"/>
          </a:xfrm>
          <a:prstGeom prst="rect">
            <a:avLst/>
          </a:prstGeom>
          <a:solidFill>
            <a:srgbClr val="DDD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71600" y="2130552"/>
            <a:ext cx="457200" cy="457200"/>
          </a:xfrm>
          <a:prstGeom prst="ellipse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600200"/>
            <a:ext cx="21031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1F6F4A"/>
                </a:solidFill>
                <a:latin typeface="Segoe UI"/>
              </a:rPr>
              <a:t>Done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834640"/>
            <a:ext cx="210312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971800"/>
            <a:ext cx="1828800" cy="3017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C2B2B"/>
                </a:solidFill>
                <a:latin typeface="Segoe UI"/>
              </a:rPr>
              <a:t>Web portal and server; users and roles; work orders; job card; materials; disputes and written decisions</a:t>
            </a:r>
          </a:p>
        </p:txBody>
      </p:sp>
      <p:sp>
        <p:nvSpPr>
          <p:cNvPr id="14" name="Oval 13"/>
          <p:cNvSpPr/>
          <p:nvPr/>
        </p:nvSpPr>
        <p:spPr>
          <a:xfrm>
            <a:off x="3639312" y="2130552"/>
            <a:ext cx="457200" cy="457200"/>
          </a:xfrm>
          <a:prstGeom prst="ellipse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16352" y="1600200"/>
            <a:ext cx="21031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0F4C4C"/>
                </a:solidFill>
                <a:latin typeface="Segoe UI"/>
              </a:rPr>
              <a:t>Next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16352" y="2834640"/>
            <a:ext cx="210312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53512" y="2971800"/>
            <a:ext cx="1828800" cy="3017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C2B2B"/>
                </a:solidFill>
                <a:latin typeface="Segoe UI"/>
              </a:rPr>
              <a:t>MB-ready extract with Staff Officer check-measurement (quantities only); HQ executive dashboard; break-glass procedure; web passkeys</a:t>
            </a:r>
          </a:p>
        </p:txBody>
      </p:sp>
      <p:sp>
        <p:nvSpPr>
          <p:cNvPr id="18" name="Oval 17"/>
          <p:cNvSpPr/>
          <p:nvPr/>
        </p:nvSpPr>
        <p:spPr>
          <a:xfrm>
            <a:off x="5907024" y="2130552"/>
            <a:ext cx="457200" cy="457200"/>
          </a:xfrm>
          <a:prstGeom prst="ellipse">
            <a:avLst/>
          </a:prstGeom>
          <a:solidFill>
            <a:srgbClr val="2C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84064" y="1600200"/>
            <a:ext cx="21031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2C5A8A"/>
                </a:solidFill>
                <a:latin typeface="Segoe UI"/>
              </a:rPr>
              <a:t>Then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84064" y="2834640"/>
            <a:ext cx="210312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21224" y="2971800"/>
            <a:ext cx="1828800" cy="3017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C2B2B"/>
                </a:solidFill>
                <a:latin typeface="Segoe UI"/>
              </a:rPr>
              <a:t>Deliberate attempt to break the system from every side; production hardening — deployment, backup and tested restore, monitoring</a:t>
            </a:r>
          </a:p>
        </p:txBody>
      </p:sp>
      <p:sp>
        <p:nvSpPr>
          <p:cNvPr id="22" name="Oval 21"/>
          <p:cNvSpPr/>
          <p:nvPr/>
        </p:nvSpPr>
        <p:spPr>
          <a:xfrm>
            <a:off x="8174736" y="2130552"/>
            <a:ext cx="457200" cy="457200"/>
          </a:xfrm>
          <a:prstGeom prst="ellipse">
            <a:avLst/>
          </a:prstGeom>
          <a:solidFill>
            <a:srgbClr val="6A3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51775" y="1600200"/>
            <a:ext cx="21031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6A3D8F"/>
                </a:solidFill>
                <a:latin typeface="Segoe UI"/>
              </a:rPr>
              <a:t>Largest piece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51775" y="2834640"/>
            <a:ext cx="210312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88936" y="2971800"/>
            <a:ext cx="1828800" cy="3017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C2B2B"/>
                </a:solidFill>
                <a:latin typeface="Segoe UI"/>
              </a:rPr>
              <a:t>Android and iOS apps: camera capture with location at exposure; keys that never leave the handset</a:t>
            </a:r>
          </a:p>
        </p:txBody>
      </p:sp>
      <p:sp>
        <p:nvSpPr>
          <p:cNvPr id="26" name="Oval 25"/>
          <p:cNvSpPr/>
          <p:nvPr/>
        </p:nvSpPr>
        <p:spPr>
          <a:xfrm>
            <a:off x="10442448" y="2130552"/>
            <a:ext cx="457200" cy="457200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19488" y="1600200"/>
            <a:ext cx="21031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8A5A00"/>
                </a:solidFill>
                <a:latin typeface="Segoe UI"/>
              </a:rPr>
              <a:t>Rollout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19488" y="2834640"/>
            <a:ext cx="210312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E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56648" y="2971800"/>
            <a:ext cx="1828800" cy="3017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C2B2B"/>
                </a:solidFill>
                <a:latin typeface="Segoe UI"/>
              </a:rPr>
              <a:t>Premises register built through registration, Area by Area; training for Area offices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B08F4E"/>
                </a:solidFill>
                <a:latin typeface="Segoe UI"/>
              </a:rPr>
              <a:t>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0F4C4C"/>
                </a:solidFill>
                <a:latin typeface="Segoe UI"/>
              </a:rPr>
              <a:t>Decisions needed from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16152"/>
            <a:ext cx="914400" cy="45720"/>
          </a:xfrm>
          <a:prstGeom prst="rect">
            <a:avLst/>
          </a:prstGeom>
          <a:solidFill>
            <a:srgbClr val="C9A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17074"/>
                </a:solidFill>
                <a:latin typeface="Segoe UI"/>
              </a:rPr>
              <a:t>Colony Maintenance Portal · NCL Civil Department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17074"/>
                </a:solidFill>
                <a:latin typeface="Segoe UI"/>
              </a:rPr>
              <a:t>26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691639"/>
            <a:ext cx="640080" cy="640080"/>
          </a:xfrm>
          <a:prstGeom prst="ellipse">
            <a:avLst/>
          </a:prstGeom>
          <a:solidFill>
            <a:srgbClr val="A32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554480"/>
            <a:ext cx="100584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A32A21"/>
                </a:solidFill>
                <a:latin typeface="Segoe UI"/>
              </a:rPr>
              <a:t>Write portal use into the next maintenance tender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965960"/>
            <a:ext cx="1014984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C2B2B"/>
                </a:solidFill>
                <a:latin typeface="Segoe UI"/>
              </a:rPr>
              <a:t>Contractor use must be a contractual obligation. Area contracts run on one- and two-year cycles: a tender floated without the clause locks that Area out for up to two years. Draft the clause and send it to all thirteen Area offices now.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880360"/>
            <a:ext cx="640080" cy="640080"/>
          </a:xfrm>
          <a:prstGeom prst="ellips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743200"/>
            <a:ext cx="100584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8A5A00"/>
                </a:solidFill>
                <a:latin typeface="Segoe UI"/>
              </a:rPr>
              <a:t>SLA for non-residential premises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154680"/>
            <a:ext cx="1014984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C2B2B"/>
                </a:solidFill>
                <a:latin typeface="Segoe UI"/>
              </a:rPr>
              <a:t>Should a dispensary or school have shorter times than a quarter for the same fault? The system supports it; today all premises share one set of figures.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069080"/>
            <a:ext cx="640080" cy="640080"/>
          </a:xfrm>
          <a:prstGeom prst="ellipse">
            <a:avLst/>
          </a:prstGeom>
          <a:solidFill>
            <a:srgbClr val="0F4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931920"/>
            <a:ext cx="100584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0F4C4C"/>
                </a:solidFill>
                <a:latin typeface="Segoe UI"/>
              </a:rPr>
              <a:t>Sign-off of the design decisions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343400"/>
            <a:ext cx="1014984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C2B2B"/>
                </a:solidFill>
                <a:latin typeface="Segoe UI"/>
              </a:rPr>
              <a:t>By the Civil Maintenance Incharge, Staff Officer (Civil) and GM (Civil).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5257800"/>
            <a:ext cx="640080" cy="640080"/>
          </a:xfrm>
          <a:prstGeom prst="ellipse">
            <a:avLst/>
          </a:prstGeom>
          <a:solidFill>
            <a:srgbClr val="2C5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5120640"/>
            <a:ext cx="100584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2C5A8A"/>
                </a:solidFill>
                <a:latin typeface="Segoe UI"/>
              </a:rPr>
              <a:t>Resident adoption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5532120"/>
            <a:ext cx="1014984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C2B2B"/>
                </a:solidFill>
                <a:latin typeface="Segoe UI"/>
              </a:rPr>
              <a:t>Notice boards, visible escalation and reliable response decide whether residents use 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51560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b="1" i="0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154680"/>
            <a:ext cx="1097280" cy="45720"/>
          </a:xfrm>
          <a:prstGeom prst="rect">
            <a:avLst/>
          </a:prstGeom>
          <a:solidFill>
            <a:srgbClr val="C9A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05840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DCEBEA"/>
                </a:solidFill>
                <a:latin typeface="Segoe UI"/>
              </a:rPr>
              <a:t>Colony Maintenance Portal — evidence for the contract, service for the resident.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C9A96A"/>
                </a:solidFill>
                <a:latin typeface="Segoe UI"/>
              </a:rPr>
              <a:t>Northern Coalfields Limited · Civil Department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